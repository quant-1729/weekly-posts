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</p:sldIdLst>
  <p:sldSz cy="5143500" cx="9144000"/>
  <p:notesSz cx="6858000" cy="9144000"/>
  <p:embeddedFontLst>
    <p:embeddedFont>
      <p:font typeface="Google Sans Flex Medium"/>
      <p:regular r:id="rId22"/>
      <p:bold r:id="rId23"/>
    </p:embeddedFont>
    <p:embeddedFont>
      <p:font typeface="Google Sans Flex"/>
      <p:regular r:id="rId24"/>
      <p:bold r:id="rId25"/>
    </p:embeddedFont>
    <p:embeddedFont>
      <p:font typeface="Google Sans Flex SemiBold"/>
      <p:regular r:id="rId26"/>
      <p:bold r:id="rId2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font" Target="fonts/GoogleSansFlexMedium-regular.fntdata"/><Relationship Id="rId23" Type="http://schemas.openxmlformats.org/officeDocument/2006/relationships/font" Target="fonts/GoogleSansFlexMedium-bold.fntdata"/><Relationship Id="rId24" Type="http://schemas.openxmlformats.org/officeDocument/2006/relationships/font" Target="fonts/GoogleSansFlex-regular.fntdata"/><Relationship Id="rId25" Type="http://schemas.openxmlformats.org/officeDocument/2006/relationships/font" Target="fonts/GoogleSansFlex-bold.fntdata"/><Relationship Id="rId26" Type="http://schemas.openxmlformats.org/officeDocument/2006/relationships/font" Target="fonts/GoogleSansFlexSemiBold-regular.fntdata"/><Relationship Id="rId27" Type="http://schemas.openxmlformats.org/officeDocument/2006/relationships/font" Target="fonts/GoogleSansFlexSemiBold-bold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We are building for the owner of a small shop or service who knows their business but not design.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order matters: we lock down what is true before anything is designed, so the post can never claim something the owner did not say.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Each tool covers one piece; nobody combines brief-first facts, code-drawn text and a consistent brand face for small businesses (Stage 3 research).</a:t>
            </a:r>
          </a:p>
          <a:p/>
          <a:p>
            <a:r>
              <a:t>A freelancer to run a shop's social media in India costs ₹15,000-50,000 a month (upGrowth, 2026), close to or above the ₹17,821 average monthly salary of a social media specialist (Indeed India, 2026).</a:t>
            </a:r>
          </a:p>
          <a:p/>
          <a:p>
            <a:r>
              <a:t>USP lines:</a:t>
            </a:r>
          </a:p>
          <a:p>
            <a:r>
              <a:t>1. Details first, then design.</a:t>
            </a:r>
          </a:p>
          <a:p>
            <a:r>
              <a:t>2. Facts only from the brief; anything else is flagged "please check".</a:t>
            </a:r>
          </a:p>
          <a:p>
            <a:r>
              <a:t>3. Approval before anything is published.</a:t>
            </a:r>
          </a:p>
          <a:p>
            <a:r>
              <a:t>4. Text, logos and QR drawn by code; a payment QR must scan back to the exact saved ID.</a:t>
            </a:r>
          </a:p>
          <a:p>
            <a:r>
              <a:t>5. Brand Face: one consistent character, made once and reused at no extra cost.</a:t>
            </a:r>
          </a:p>
          <a:p>
            <a:r>
              <a:t>6. Built for Indian and global small businesses: posts in 20+ languages, any currency, every time zone.</a:t>
            </a:r>
          </a:p>
          <a:p/>
          <a:p>
            <a:r>
              <a:t>Research caveat: most competitor sources are vendor blogs; pain points are desk hypotheses not yet validated with users. Willingness to pay (likely Rs 199-499/month, if anything) is our own hypothesis, not a sourced number.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Everything listed is built and working. Reels show as "Coming soon". Meta publishing works for app testers; public use waits on Meta App Review. The post results (insights) job is built but waits on Meta permissions.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same path serves a single post or a whole week from one sentence; nothing goes out without the approval step.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b085bff3c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fb085bff3c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We show the working app rather than wireframes. These are screenshots of the local development app.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One Next.js app on Cloud Run does everything; all text and QR codes are rendered on the server by code, and AI never touches payment IDs. Firestore gives owners live status: when the Cloud Scheduler sweep publishes a post or Gemini makes a Brand Face pose, the server writes a tiny brand-scoped status doc; the browser signs in to Firebase Auth with a short-lived custom token minted keylessly by Cloud Run and listens with onSnapshot. Rules allow reading only your own brand and never writing. A second Cloud Run service hosts the admin dashboard.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Gemini does the language work; code does every pixel of text, so Hindi and other scripts render correctly.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b085bff3c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fb085bff3c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Every AI run over $0.50 needs the owner's approval first, and every brand has a weekly cap enforced in code. A Rs 450 a month budget alert is set on the Cloud project; that is an alert, not a measured cost. Hosting cost per month is not yet estimated.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These are screenshots of the running local app.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These are measured from the codebase (full suite on 2026-10-18: 4,751 passed, 5 skipped). User-facing timings against the PRD targets (first post under 5 minutes, 3 design options under 15 seconds, render under 1.5 s, planted false facts flagged at least 95% of the time) are still to be measured.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next steps reuse the same engine; pricing is open, and our docs say the pilot is free.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Open the demo link and enter the access code: you are signed in to a working demo business (no email needed). You can create, edit, approve, schedule and publish posts, plan a week and see Ideas; account-level actions are locked in demo sessions. The 3-minute demo video shows the full flow on the live app, including Firestore live status in the Queue.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fb085bff3c_0_1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fb085bff3c_0_1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One exception to abstract-only images: an owner-approved Brand Face, made once and reused. Never a real or famous person; realistic faces are always labelled AI and never used for health or finance brands; never shown as a professional, customer or in a testimonial. Payment IDs are never written, edited or suggested by AI. Publishing tokens are encrypted at rest.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fb085bff3c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6.png"/><Relationship Id="rId6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Relationship Id="rId8" Type="http://schemas.openxmlformats.org/officeDocument/2006/relationships/image" Target="../media/image11.png"/><Relationship Id="rId9" Type="http://schemas.openxmlformats.org/officeDocument/2006/relationships/image" Target="../media/image12.png"/><Relationship Id="rId10" Type="http://schemas.openxmlformats.org/officeDocument/2006/relationships/image" Target="../media/image1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hyperlink" Target="https://weekly-posts-526531409571.australia-southeast1.run.app/demo" TargetMode="External"/><Relationship Id="rId6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600" y="2790000"/>
            <a:ext cx="8760000" cy="22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1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Team Details</a:t>
            </a:r>
            <a:endParaRPr sz="21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name: </a:t>
            </a: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zerochills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leader name: </a:t>
            </a:r>
            <a:r>
              <a:rPr lang="en-GB" sz="1800" b="1">
                <a:solidFill>
                  <a:srgbClr val="ED561B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[OWNER TO FILL]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Problem Statement: 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1" marL="9144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 b="0" lang="en-GB">
                <a:solidFill>
                  <a:srgbClr val="000000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Small business owners need regular, good-looking, truthful posts, but have no design skills, time or budget. Generic AI tools invent facts and garble local-language text.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sp>
        <p:nvSpPr>
          <p:cNvPr id="57" name="TextBox 56"/>
          <p:cNvSpPr txBox="1"/>
          <p:nvPr/>
        </p:nvSpPr>
        <p:spPr>
          <a:xfrm>
            <a:off x="4500000" y="2880000"/>
            <a:ext cx="4290000" cy="3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2100" b="0" lang="en-GB">
                <a:solidFill>
                  <a:srgbClr val="058DC7"/>
                </a:solidFill>
                <a:latin typeface="Google Sans Flex SemiBold"/>
                <a:ea typeface="Google Sans Flex"/>
                <a:cs typeface="Google Sans Flex"/>
                <a:sym typeface="Google Sans Flex"/>
              </a:rPr>
              <a:t>Weekly Posts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Brief about the idea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356775" y="1090000"/>
            <a:ext cx="4900000" cy="37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lang="en-GB">
                <a:solidFill>
                  <a:srgbClr val="000000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Weekly Posts: details first, then design.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56775" y="1560000"/>
            <a:ext cx="4900000" cy="3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342900" indent="-228600">
              <a:spcAft>
                <a:spcPts val="800"/>
              </a:spcAft>
              <a:buSzPts val="1300"/>
              <a:buFont typeface="Google Sans Flex"/>
              <a:buChar char="●"/>
            </a:pPr>
            <a:r>
              <a:rPr sz="1300" b="0" lang="en-GB">
                <a:solidFill>
                  <a:srgbClr val="000000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The owner fills a short brief: offer, selling points, contacts, QR, dates.</a:t>
            </a:r>
          </a:p>
          <a:p>
            <a:pPr algn="l" marL="342900" indent="-228600">
              <a:spcAft>
                <a:spcPts val="800"/>
              </a:spcAft>
              <a:buSzPts val="1300"/>
              <a:buFont typeface="Google Sans Flex"/>
              <a:buChar char="●"/>
            </a:pPr>
            <a:r>
              <a:rPr sz="1300" b="0" lang="en-GB">
                <a:solidFill>
                  <a:srgbClr val="000000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AI drafts captions and ideas; code draws every word, logo and QR.</a:t>
            </a:r>
          </a:p>
          <a:p>
            <a:pPr algn="l" marL="342900" indent="-228600">
              <a:spcAft>
                <a:spcPts val="800"/>
              </a:spcAft>
              <a:buSzPts val="1300"/>
              <a:buFont typeface="Google Sans Flex"/>
              <a:buChar char="●"/>
            </a:pPr>
            <a:r>
              <a:rPr sz="1300" b="0" lang="en-GB">
                <a:solidFill>
                  <a:srgbClr val="000000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Posts state only facts from the brief.</a:t>
            </a:r>
          </a:p>
          <a:p>
            <a:pPr algn="l" marL="342900" indent="-228600">
              <a:spcAft>
                <a:spcPts val="800"/>
              </a:spcAft>
              <a:buSzPts val="1300"/>
              <a:buFont typeface="Google Sans Flex"/>
              <a:buChar char="●"/>
            </a:pPr>
            <a:r>
              <a:rPr sz="1300" b="0" lang="en-GB">
                <a:solidFill>
                  <a:srgbClr val="000000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The owner approves; posts are scheduled and published one at a time.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5600000" y="1150000"/>
            <a:ext cx="3190000" cy="1250000"/>
          </a:xfrm>
          <a:prstGeom prst="roundRect">
            <a:avLst>
              <a:gd name="adj" fmla="val 10000"/>
            </a:avLst>
          </a:prstGeom>
          <a:solidFill>
            <a:srgbClr val="E6F4FA"/>
          </a:solidFill>
          <a:ln w="15875">
            <a:solidFill>
              <a:srgbClr val="058DC7"/>
            </a:solidFill>
          </a:ln>
        </p:spPr>
        <p:txBody>
          <a:bodyPr rtlCol="0" anchor="ctr" wrap="square" lIns="73152" rIns="73152"/>
          <a:lstStyle/>
          <a:p>
            <a:pPr algn="ctr">
              <a:spcAft>
                <a:spcPts val="200"/>
              </a:spcAft>
            </a:pPr>
            <a:r>
              <a:rPr sz="1400" b="1" lang="en-GB">
                <a:solidFill>
                  <a:srgbClr val="000000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1  Details</a:t>
            </a:r>
          </a:p>
          <a:p>
            <a:pPr algn="ctr">
              <a:spcAft>
                <a:spcPts val="200"/>
              </a:spcAft>
            </a:pPr>
            <a:r>
              <a:rPr sz="1200" b="0" lang="en-GB">
                <a:solidFill>
                  <a:srgbClr val="000000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Offer, selling points, contacts, QR, dates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5600000" y="3050000"/>
            <a:ext cx="3190000" cy="1250000"/>
          </a:xfrm>
          <a:prstGeom prst="roundRect">
            <a:avLst>
              <a:gd name="adj" fmla="val 10000"/>
            </a:avLst>
          </a:prstGeom>
          <a:solidFill>
            <a:srgbClr val="E6F4FA"/>
          </a:solidFill>
          <a:ln w="15875">
            <a:solidFill>
              <a:srgbClr val="058DC7"/>
            </a:solidFill>
          </a:ln>
        </p:spPr>
        <p:txBody>
          <a:bodyPr rtlCol="0" anchor="ctr" wrap="square" lIns="73152" rIns="73152"/>
          <a:lstStyle/>
          <a:p>
            <a:pPr algn="ctr">
              <a:spcAft>
                <a:spcPts val="200"/>
              </a:spcAft>
            </a:pPr>
            <a:r>
              <a:rPr sz="1400" b="1" lang="en-GB">
                <a:solidFill>
                  <a:srgbClr val="000000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2  Post</a:t>
            </a:r>
          </a:p>
          <a:p>
            <a:pPr algn="ctr">
              <a:spcAft>
                <a:spcPts val="200"/>
              </a:spcAft>
            </a:pPr>
            <a:r>
              <a:rPr sz="1200" b="0" lang="en-GB">
                <a:solidFill>
                  <a:srgbClr val="000000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Drawn by code, checked, approved</a:t>
            </a:r>
          </a:p>
        </p:txBody>
      </p:sp>
      <p:cxnSp>
        <p:nvCxnSpPr>
          <p:cNvPr id="76" name="Connector 75"/>
          <p:cNvCxnSpPr>
            <a:stCxn id="74" idx="2"/>
            <a:endCxn id="75" idx="0"/>
          </p:cNvCxnSpPr>
          <p:nvPr/>
        </p:nvCxnSpPr>
        <p:spPr>
          <a:xfrm>
            <a:off x="7195000" y="2400000"/>
            <a:ext cx="0" cy="650000"/>
          </a:xfrm>
          <a:prstGeom prst="line">
            <a:avLst/>
          </a:prstGeom>
          <a:ln w="22225">
            <a:solidFill>
              <a:srgbClr val="058DC7"/>
            </a:solidFill>
            <a:tailEnd type="triangle" w="med" len="med"/>
          </a:ln>
        </p:spPr>
      </p:cxn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6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Opportunities</a:t>
            </a:r>
            <a:endParaRPr sz="16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356775" y="1070000"/>
            <a:ext cx="8430450" cy="6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342900" indent="-228600">
              <a:spcAft>
                <a:spcPts val="200"/>
              </a:spcAft>
              <a:buSzPts val="1200"/>
              <a:buFont typeface="Google Sans Flex"/>
              <a:buChar char="●"/>
            </a:pPr>
            <a:r>
              <a:rPr sz="1200" b="1" lang="en-GB">
                <a:solidFill>
                  <a:srgbClr val="000000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Different:</a:t>
            </a:r>
            <a:r>
              <a:rPr sz="1200" b="0" lang="en-GB">
                <a:solidFill>
                  <a:srgbClr val="000000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no other tool joins brief-first facts, code-drawn text and one brand face.</a:t>
            </a:r>
          </a:p>
          <a:p>
            <a:pPr algn="l" marL="342900" indent="-228600">
              <a:spcAft>
                <a:spcPts val="200"/>
              </a:spcAft>
              <a:buSzPts val="1200"/>
              <a:buFont typeface="Google Sans Flex"/>
              <a:buChar char="●"/>
            </a:pPr>
            <a:r>
              <a:rPr sz="1200" b="1" lang="en-GB">
                <a:solidFill>
                  <a:srgbClr val="000000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Solves it:</a:t>
            </a:r>
            <a:r>
              <a:rPr sz="1200" b="0" lang="en-GB">
                <a:solidFill>
                  <a:srgbClr val="000000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the owner states facts once; the app drafts, designs, checks and schedules.</a:t>
            </a:r>
          </a:p>
          <a:p>
            <a:pPr algn="l" marL="342900" indent="-228600">
              <a:spcAft>
                <a:spcPts val="200"/>
              </a:spcAft>
              <a:buSzPts val="1200"/>
              <a:buFont typeface="Google Sans Flex"/>
              <a:buChar char="●"/>
            </a:pPr>
            <a:r>
              <a:rPr sz="1200" b="1" lang="en-GB">
                <a:solidFill>
                  <a:srgbClr val="000000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USP:</a:t>
            </a:r>
            <a:r>
              <a:rPr sz="1200" b="0" lang="en-GB">
                <a:solidFill>
                  <a:srgbClr val="000000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details first, then design; every post states only what the owner said.</a:t>
            </a:r>
          </a:p>
        </p:txBody>
      </p:sp>
      <p:graphicFrame>
        <p:nvGraphicFramePr>
          <p:cNvPr id="81" name="Table 80"/>
          <p:cNvGraphicFramePr>
            <a:graphicFrameLocks noGrp="1"/>
          </p:cNvGraphicFramePr>
          <p:nvPr/>
        </p:nvGraphicFramePr>
        <p:xfrm>
          <a:off x="356775" y="1760000"/>
          <a:ext cx="8430450" cy="17650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950000"/>
                <a:gridCol w="950000"/>
                <a:gridCol w="1300000"/>
                <a:gridCol w="1200000"/>
                <a:gridCol w="1250000"/>
                <a:gridCol w="1780450"/>
              </a:tblGrid>
              <a:tr h="440000">
                <a:tc>
                  <a:txBody>
                    <a:bodyPr wrap="square"/>
                    <a:lstStyle/>
                    <a:p>
                      <a:pPr algn="l"/>
                    </a:p>
                  </a:txBody>
                  <a:tcPr marL="54864" marR="54864" marT="27432" marB="27432" anchor="ctr">
                    <a:lnL w="9525" cap="flat" cmpd="sng">
                      <a:solidFill>
                        <a:srgbClr val="BFBFBF"/>
                      </a:solidFill>
                      <a:prstDash val="solid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lang="en-GB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Canva</a:t>
                      </a:r>
                    </a:p>
                  </a:txBody>
                  <a:tcPr marL="54864" marR="54864" marT="27432" marB="27432" anchor="ctr">
                    <a:lnL w="9525" cap="flat" cmpd="sng">
                      <a:solidFill>
                        <a:srgbClr val="BFBFBF"/>
                      </a:solidFill>
                      <a:prstDash val="solid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lang="en-GB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Buffer, Hootsuite</a:t>
                      </a:r>
                    </a:p>
                  </a:txBody>
                  <a:tcPr marL="54864" marR="54864" marT="27432" marB="27432" anchor="ctr">
                    <a:lnL w="9525" cap="flat" cmpd="sng">
                      <a:solidFill>
                        <a:srgbClr val="BFBFBF"/>
                      </a:solidFill>
                      <a:prstDash val="solid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lang="en-GB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Predis, Ocoya</a:t>
                      </a:r>
                    </a:p>
                  </a:txBody>
                  <a:tcPr marL="54864" marR="54864" marT="27432" marB="27432" anchor="ctr">
                    <a:lnL w="9525" cap="flat" cmpd="sng">
                      <a:solidFill>
                        <a:srgbClr val="BFBFBF"/>
                      </a:solidFill>
                      <a:prstDash val="solid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lang="en-GB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Freelancer</a:t>
                      </a:r>
                    </a:p>
                  </a:txBody>
                  <a:tcPr marL="54864" marR="54864" marT="27432" marB="27432" anchor="ctr">
                    <a:lnL w="9525" cap="flat" cmpd="sng">
                      <a:solidFill>
                        <a:srgbClr val="BFBFBF"/>
                      </a:solidFill>
                      <a:prstDash val="solid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lang="en-GB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Weekly Posts</a:t>
                      </a:r>
                    </a:p>
                  </a:txBody>
                  <a:tcPr marL="54864" marR="54864" marT="27432" marB="27432" anchor="ctr">
                    <a:lnL w="9525" cap="flat" cmpd="sng">
                      <a:solidFill>
                        <a:srgbClr val="BFBFBF"/>
                      </a:solidFill>
                      <a:prstDash val="solid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</a:lnB>
                    <a:solidFill>
                      <a:srgbClr val="058DC7"/>
                    </a:solidFill>
                  </a:tcPr>
                </a:tc>
              </a:tr>
              <a:tr h="265000">
                <a:tc>
                  <a:txBody>
                    <a:bodyPr wrap="square"/>
                    <a:lstStyle/>
                    <a:p>
                      <a:pPr algn="l"/>
                      <a:r>
                        <a:rPr sz="1200" b="0" lang="en-GB">
                          <a:solidFill>
                            <a:srgbClr val="000000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Facts only from owner</a:t>
                      </a:r>
                    </a:p>
                  </a:txBody>
                  <a:tcPr marL="54864" marR="54864" marT="27432" marB="27432" anchor="ctr">
                    <a:lnL w="9525" cap="flat" cmpd="sng">
                      <a:solidFill>
                        <a:srgbClr val="BFBFBF"/>
                      </a:solidFill>
                      <a:prstDash val="solid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lang="en-GB">
                          <a:solidFill>
                            <a:srgbClr val="000000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No</a:t>
                      </a:r>
                    </a:p>
                  </a:txBody>
                  <a:tcPr marL="54864" marR="54864" marT="27432" marB="27432" anchor="ctr">
                    <a:lnL w="9525" cap="flat" cmpd="sng">
                      <a:solidFill>
                        <a:srgbClr val="BFBFBF"/>
                      </a:solidFill>
                      <a:prstDash val="solid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lang="en-GB">
                          <a:solidFill>
                            <a:srgbClr val="000000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No</a:t>
                      </a:r>
                    </a:p>
                  </a:txBody>
                  <a:tcPr marL="54864" marR="54864" marT="27432" marB="27432" anchor="ctr">
                    <a:lnL w="9525" cap="flat" cmpd="sng">
                      <a:solidFill>
                        <a:srgbClr val="BFBFBF"/>
                      </a:solidFill>
                      <a:prstDash val="solid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lang="en-GB">
                          <a:solidFill>
                            <a:srgbClr val="000000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No</a:t>
                      </a:r>
                    </a:p>
                  </a:txBody>
                  <a:tcPr marL="54864" marR="54864" marT="27432" marB="27432" anchor="ctr">
                    <a:lnL w="9525" cap="flat" cmpd="sng">
                      <a:solidFill>
                        <a:srgbClr val="BFBFBF"/>
                      </a:solidFill>
                      <a:prstDash val="solid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lang="en-GB">
                          <a:solidFill>
                            <a:srgbClr val="000000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Depends</a:t>
                      </a:r>
                    </a:p>
                  </a:txBody>
                  <a:tcPr marL="54864" marR="54864" marT="27432" marB="27432" anchor="ctr">
                    <a:lnL w="9525" cap="flat" cmpd="sng">
                      <a:solidFill>
                        <a:srgbClr val="BFBFBF"/>
                      </a:solidFill>
                      <a:prstDash val="solid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lang="en-GB">
                          <a:solidFill>
                            <a:srgbClr val="000000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Yes, checked</a:t>
                      </a:r>
                    </a:p>
                  </a:txBody>
                  <a:tcPr marL="54864" marR="54864" marT="27432" marB="27432" anchor="ctr">
                    <a:lnL w="9525" cap="flat" cmpd="sng">
                      <a:solidFill>
                        <a:srgbClr val="BFBFBF"/>
                      </a:solidFill>
                      <a:prstDash val="solid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</a:lnB>
                    <a:solidFill>
                      <a:srgbClr val="E6F4FA"/>
                    </a:solidFill>
                  </a:tcPr>
                </a:tc>
              </a:tr>
              <a:tr h="265000">
                <a:tc>
                  <a:txBody>
                    <a:bodyPr wrap="square"/>
                    <a:lstStyle/>
                    <a:p>
                      <a:pPr algn="l"/>
                      <a:r>
                        <a:rPr sz="1200" b="0" lang="en-GB">
                          <a:solidFill>
                            <a:srgbClr val="000000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Code-drawn text and QR</a:t>
                      </a:r>
                    </a:p>
                  </a:txBody>
                  <a:tcPr marL="54864" marR="54864" marT="27432" marB="27432" anchor="ctr">
                    <a:lnL w="9525" cap="flat" cmpd="sng">
                      <a:solidFill>
                        <a:srgbClr val="BFBFBF"/>
                      </a:solidFill>
                      <a:prstDash val="solid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lang="en-GB">
                          <a:solidFill>
                            <a:srgbClr val="000000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Manual</a:t>
                      </a:r>
                    </a:p>
                  </a:txBody>
                  <a:tcPr marL="54864" marR="54864" marT="27432" marB="27432" anchor="ctr">
                    <a:lnL w="9525" cap="flat" cmpd="sng">
                      <a:solidFill>
                        <a:srgbClr val="BFBFBF"/>
                      </a:solidFill>
                      <a:prstDash val="solid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lang="en-GB">
                          <a:solidFill>
                            <a:srgbClr val="000000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No design</a:t>
                      </a:r>
                    </a:p>
                  </a:txBody>
                  <a:tcPr marL="54864" marR="54864" marT="27432" marB="27432" anchor="ctr">
                    <a:lnL w="9525" cap="flat" cmpd="sng">
                      <a:solidFill>
                        <a:srgbClr val="BFBFBF"/>
                      </a:solidFill>
                      <a:prstDash val="solid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lang="en-GB">
                          <a:solidFill>
                            <a:srgbClr val="000000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AI design</a:t>
                      </a:r>
                    </a:p>
                  </a:txBody>
                  <a:tcPr marL="54864" marR="54864" marT="27432" marB="27432" anchor="ctr">
                    <a:lnL w="9525" cap="flat" cmpd="sng">
                      <a:solidFill>
                        <a:srgbClr val="BFBFBF"/>
                      </a:solidFill>
                      <a:prstDash val="solid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lang="en-GB">
                          <a:solidFill>
                            <a:srgbClr val="000000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Manual</a:t>
                      </a:r>
                    </a:p>
                  </a:txBody>
                  <a:tcPr marL="54864" marR="54864" marT="27432" marB="27432" anchor="ctr">
                    <a:lnL w="9525" cap="flat" cmpd="sng">
                      <a:solidFill>
                        <a:srgbClr val="BFBFBF"/>
                      </a:solidFill>
                      <a:prstDash val="solid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lang="en-GB">
                          <a:solidFill>
                            <a:srgbClr val="000000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Yes</a:t>
                      </a:r>
                    </a:p>
                  </a:txBody>
                  <a:tcPr marL="54864" marR="54864" marT="27432" marB="27432" anchor="ctr">
                    <a:lnL w="9525" cap="flat" cmpd="sng">
                      <a:solidFill>
                        <a:srgbClr val="BFBFBF"/>
                      </a:solidFill>
                      <a:prstDash val="solid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</a:lnB>
                    <a:solidFill>
                      <a:srgbClr val="E6F4FA"/>
                    </a:solidFill>
                  </a:tcPr>
                </a:tc>
              </a:tr>
              <a:tr h="265000">
                <a:tc>
                  <a:txBody>
                    <a:bodyPr wrap="square"/>
                    <a:lstStyle/>
                    <a:p>
                      <a:pPr algn="l"/>
                      <a:r>
                        <a:rPr sz="1200" b="0" lang="en-GB">
                          <a:solidFill>
                            <a:srgbClr val="000000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Approval before publish</a:t>
                      </a:r>
                    </a:p>
                  </a:txBody>
                  <a:tcPr marL="54864" marR="54864" marT="27432" marB="27432" anchor="ctr">
                    <a:lnL w="9525" cap="flat" cmpd="sng">
                      <a:solidFill>
                        <a:srgbClr val="BFBFBF"/>
                      </a:solidFill>
                      <a:prstDash val="solid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lang="en-GB">
                          <a:solidFill>
                            <a:srgbClr val="000000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n/a</a:t>
                      </a:r>
                    </a:p>
                  </a:txBody>
                  <a:tcPr marL="54864" marR="54864" marT="27432" marB="27432" anchor="ctr">
                    <a:lnL w="9525" cap="flat" cmpd="sng">
                      <a:solidFill>
                        <a:srgbClr val="BFBFBF"/>
                      </a:solidFill>
                      <a:prstDash val="solid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lang="en-GB">
                          <a:solidFill>
                            <a:srgbClr val="000000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Yes</a:t>
                      </a:r>
                    </a:p>
                  </a:txBody>
                  <a:tcPr marL="54864" marR="54864" marT="27432" marB="27432" anchor="ctr">
                    <a:lnL w="9525" cap="flat" cmpd="sng">
                      <a:solidFill>
                        <a:srgbClr val="BFBFBF"/>
                      </a:solidFill>
                      <a:prstDash val="solid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lang="en-GB">
                          <a:solidFill>
                            <a:srgbClr val="000000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Yes</a:t>
                      </a:r>
                    </a:p>
                  </a:txBody>
                  <a:tcPr marL="54864" marR="54864" marT="27432" marB="27432" anchor="ctr">
                    <a:lnL w="9525" cap="flat" cmpd="sng">
                      <a:solidFill>
                        <a:srgbClr val="BFBFBF"/>
                      </a:solidFill>
                      <a:prstDash val="solid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lang="en-GB">
                          <a:solidFill>
                            <a:srgbClr val="000000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Yes</a:t>
                      </a:r>
                    </a:p>
                  </a:txBody>
                  <a:tcPr marL="54864" marR="54864" marT="27432" marB="27432" anchor="ctr">
                    <a:lnL w="9525" cap="flat" cmpd="sng">
                      <a:solidFill>
                        <a:srgbClr val="BFBFBF"/>
                      </a:solidFill>
                      <a:prstDash val="solid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lang="en-GB">
                          <a:solidFill>
                            <a:srgbClr val="000000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Yes</a:t>
                      </a:r>
                    </a:p>
                  </a:txBody>
                  <a:tcPr marL="54864" marR="54864" marT="27432" marB="27432" anchor="ctr">
                    <a:lnL w="9525" cap="flat" cmpd="sng">
                      <a:solidFill>
                        <a:srgbClr val="BFBFBF"/>
                      </a:solidFill>
                      <a:prstDash val="solid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</a:lnB>
                    <a:solidFill>
                      <a:srgbClr val="E6F4FA"/>
                    </a:solidFill>
                  </a:tcPr>
                </a:tc>
              </a:tr>
              <a:tr h="265000">
                <a:tc>
                  <a:txBody>
                    <a:bodyPr wrap="square"/>
                    <a:lstStyle/>
                    <a:p>
                      <a:pPr algn="l"/>
                      <a:r>
                        <a:rPr sz="1200" b="0" lang="en-GB">
                          <a:solidFill>
                            <a:srgbClr val="000000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Brand Face</a:t>
                      </a:r>
                    </a:p>
                  </a:txBody>
                  <a:tcPr marL="54864" marR="54864" marT="27432" marB="27432" anchor="ctr">
                    <a:lnL w="9525" cap="flat" cmpd="sng">
                      <a:solidFill>
                        <a:srgbClr val="BFBFBF"/>
                      </a:solidFill>
                      <a:prstDash val="solid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lang="en-GB">
                          <a:solidFill>
                            <a:srgbClr val="000000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No</a:t>
                      </a:r>
                    </a:p>
                  </a:txBody>
                  <a:tcPr marL="54864" marR="54864" marT="27432" marB="27432" anchor="ctr">
                    <a:lnL w="9525" cap="flat" cmpd="sng">
                      <a:solidFill>
                        <a:srgbClr val="BFBFBF"/>
                      </a:solidFill>
                      <a:prstDash val="solid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lang="en-GB">
                          <a:solidFill>
                            <a:srgbClr val="000000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No</a:t>
                      </a:r>
                    </a:p>
                  </a:txBody>
                  <a:tcPr marL="54864" marR="54864" marT="27432" marB="27432" anchor="ctr">
                    <a:lnL w="9525" cap="flat" cmpd="sng">
                      <a:solidFill>
                        <a:srgbClr val="BFBFBF"/>
                      </a:solidFill>
                      <a:prstDash val="solid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lang="en-GB">
                          <a:solidFill>
                            <a:srgbClr val="000000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No</a:t>
                      </a:r>
                    </a:p>
                  </a:txBody>
                  <a:tcPr marL="54864" marR="54864" marT="27432" marB="27432" anchor="ctr">
                    <a:lnL w="9525" cap="flat" cmpd="sng">
                      <a:solidFill>
                        <a:srgbClr val="BFBFBF"/>
                      </a:solidFill>
                      <a:prstDash val="solid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lang="en-GB">
                          <a:solidFill>
                            <a:srgbClr val="000000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Costly</a:t>
                      </a:r>
                    </a:p>
                  </a:txBody>
                  <a:tcPr marL="54864" marR="54864" marT="27432" marB="27432" anchor="ctr">
                    <a:lnL w="9525" cap="flat" cmpd="sng">
                      <a:solidFill>
                        <a:srgbClr val="BFBFBF"/>
                      </a:solidFill>
                      <a:prstDash val="solid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lang="en-GB">
                          <a:solidFill>
                            <a:srgbClr val="000000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Yes</a:t>
                      </a:r>
                    </a:p>
                  </a:txBody>
                  <a:tcPr marL="54864" marR="54864" marT="27432" marB="27432" anchor="ctr">
                    <a:lnL w="9525" cap="flat" cmpd="sng">
                      <a:solidFill>
                        <a:srgbClr val="BFBFBF"/>
                      </a:solidFill>
                      <a:prstDash val="solid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</a:lnB>
                    <a:solidFill>
                      <a:srgbClr val="E6F4FA"/>
                    </a:solidFill>
                  </a:tcPr>
                </a:tc>
              </a:tr>
              <a:tr h="265000">
                <a:tc>
                  <a:txBody>
                    <a:bodyPr wrap="square"/>
                    <a:lstStyle/>
                    <a:p>
                      <a:pPr algn="l"/>
                      <a:r>
                        <a:rPr sz="1200" b="0" lang="en-GB">
                          <a:solidFill>
                            <a:srgbClr val="000000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Cost</a:t>
                      </a:r>
                    </a:p>
                  </a:txBody>
                  <a:tcPr marL="54864" marR="54864" marT="27432" marB="27432" anchor="ctr">
                    <a:lnL w="9525" cap="flat" cmpd="sng">
                      <a:solidFill>
                        <a:srgbClr val="BFBFBF"/>
                      </a:solidFill>
                      <a:prstDash val="solid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lang="en-GB">
                          <a:solidFill>
                            <a:srgbClr val="000000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Free/paid</a:t>
                      </a:r>
                    </a:p>
                  </a:txBody>
                  <a:tcPr marL="54864" marR="54864" marT="27432" marB="27432" anchor="ctr">
                    <a:lnL w="9525" cap="flat" cmpd="sng">
                      <a:solidFill>
                        <a:srgbClr val="BFBFBF"/>
                      </a:solidFill>
                      <a:prstDash val="solid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lang="en-GB">
                          <a:solidFill>
                            <a:srgbClr val="000000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Paid (USD)</a:t>
                      </a:r>
                    </a:p>
                  </a:txBody>
                  <a:tcPr marL="54864" marR="54864" marT="27432" marB="27432" anchor="ctr">
                    <a:lnL w="9525" cap="flat" cmpd="sng">
                      <a:solidFill>
                        <a:srgbClr val="BFBFBF"/>
                      </a:solidFill>
                      <a:prstDash val="solid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lang="en-GB">
                          <a:solidFill>
                            <a:srgbClr val="000000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~$29-59/mo</a:t>
                      </a:r>
                    </a:p>
                  </a:txBody>
                  <a:tcPr marL="54864" marR="54864" marT="27432" marB="27432" anchor="ctr">
                    <a:lnL w="9525" cap="flat" cmpd="sng">
                      <a:solidFill>
                        <a:srgbClr val="BFBFBF"/>
                      </a:solidFill>
                      <a:prstDash val="solid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lang="en-GB">
                          <a:solidFill>
                            <a:srgbClr val="000000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Rs 15K-50K/mo</a:t>
                      </a:r>
                    </a:p>
                  </a:txBody>
                  <a:tcPr marL="54864" marR="54864" marT="27432" marB="27432" anchor="ctr">
                    <a:lnL w="9525" cap="flat" cmpd="sng">
                      <a:solidFill>
                        <a:srgbClr val="BFBFBF"/>
                      </a:solidFill>
                      <a:prstDash val="solid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lang="en-GB">
                          <a:solidFill>
                            <a:srgbClr val="ED561B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[OWNER TO DECIDE]</a:t>
                      </a:r>
                    </a:p>
                  </a:txBody>
                  <a:tcPr marL="54864" marR="54864" marT="27432" marB="27432" anchor="ctr">
                    <a:lnL w="9525" cap="flat" cmpd="sng">
                      <a:solidFill>
                        <a:srgbClr val="BFBFBF"/>
                      </a:solidFill>
                      <a:prstDash val="solid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</a:lnB>
                    <a:solidFill>
                      <a:srgbClr val="E6F4FA"/>
                    </a:solidFill>
                  </a:tcPr>
                </a:tc>
              </a:tr>
            </a:tbl>
          </a:graphicData>
        </a:graphic>
      </p:graphicFrame>
      <p:sp>
        <p:nvSpPr>
          <p:cNvPr id="82" name="TextBox 81"/>
          <p:cNvSpPr txBox="1"/>
          <p:nvPr/>
        </p:nvSpPr>
        <p:spPr>
          <a:xfrm>
            <a:off x="356775" y="3740000"/>
            <a:ext cx="8430450" cy="8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 lang="en-GB">
                <a:solidFill>
                  <a:srgbClr val="000000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Problem size</a:t>
            </a:r>
          </a:p>
          <a:p>
            <a:pPr algn="l" marL="342900" indent="-228600">
              <a:spcAft>
                <a:spcPts val="100"/>
              </a:spcAft>
              <a:buSzPts val="1200"/>
              <a:buFont typeface="Google Sans Flex"/>
              <a:buChar char="●"/>
            </a:pPr>
            <a:r>
              <a:rPr sz="1200" b="0" lang="en-GB">
                <a:solidFill>
                  <a:srgbClr val="000000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7.9 crore Indian enterprises registered; MSMEs are 99.8% of firms in developing Asia.</a:t>
            </a:r>
          </a:p>
          <a:p>
            <a:pPr algn="l" marL="342900" indent="-228600">
              <a:spcAft>
                <a:spcPts val="100"/>
              </a:spcAft>
              <a:buSzPts val="1200"/>
              <a:buFont typeface="Google Sans Flex"/>
              <a:buChar char="●"/>
            </a:pPr>
            <a:r>
              <a:rPr sz="1200" b="0" lang="en-GB">
                <a:solidFill>
                  <a:srgbClr val="000000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Only 13% of Indian MSMEs use social media marketing.</a:t>
            </a:r>
          </a:p>
          <a:p>
            <a:pPr algn="l" marL="342900" indent="-228600">
              <a:spcAft>
                <a:spcPts val="100"/>
              </a:spcAft>
              <a:buSzPts val="1200"/>
              <a:buFont typeface="Google Sans Flex"/>
              <a:buChar char="●"/>
            </a:pPr>
            <a:r>
              <a:rPr sz="1200" b="0" lang="en-GB">
                <a:solidFill>
                  <a:srgbClr val="000000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56% of small businesses get an hour or less a day for marketing.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56775" y="4630000"/>
            <a:ext cx="843045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lang="en-GB">
                <a:solidFill>
                  <a:srgbClr val="595959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Sources: MSME Ministry via IANS, 2026; ADB Asia SME Monitor 2025; SIDBI via Entrepreneur India, 2025; Constant Contact, 2024 (US/UK/AU/CA).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List of features offered by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8" name="Rounded Rectangle 87"/>
          <p:cNvSpPr/>
          <p:nvPr/>
        </p:nvSpPr>
        <p:spPr>
          <a:xfrm>
            <a:off x="356775" y="1100000"/>
            <a:ext cx="4130000" cy="83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rtlCol="0" anchor="ctr" wrap="square" lIns="182880" rIns="182880"/>
          <a:lstStyle/>
          <a:p>
            <a:pPr algn="l">
              <a:spcAft>
                <a:spcPts val="200"/>
              </a:spcAft>
            </a:pPr>
            <a:r>
              <a:rPr sz="1300" b="1" lang="en-GB">
                <a:solidFill>
                  <a:srgbClr val="000000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Create a post:</a:t>
            </a:r>
            <a:r>
              <a:rPr sz="1300" b="0" lang="en-GB">
                <a:solidFill>
                  <a:srgbClr val="000000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details, 3 design options, review, schedule</a:t>
            </a:r>
          </a:p>
        </p:txBody>
      </p:sp>
      <p:sp>
        <p:nvSpPr>
          <p:cNvPr id="89" name="Rectangle 88"/>
          <p:cNvSpPr/>
          <p:nvPr/>
        </p:nvSpPr>
        <p:spPr>
          <a:xfrm>
            <a:off x="356775" y="1190000"/>
            <a:ext cx="55000" cy="650000"/>
          </a:xfrm>
          <a:prstGeom prst="rect">
            <a:avLst/>
          </a:prstGeom>
          <a:solidFill>
            <a:srgbClr val="058D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0" name="Rounded Rectangle 89"/>
          <p:cNvSpPr/>
          <p:nvPr/>
        </p:nvSpPr>
        <p:spPr>
          <a:xfrm>
            <a:off x="4657225" y="1100000"/>
            <a:ext cx="4130000" cy="83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rtlCol="0" anchor="ctr" wrap="square" lIns="182880" rIns="182880"/>
          <a:lstStyle/>
          <a:p>
            <a:pPr algn="l">
              <a:spcAft>
                <a:spcPts val="200"/>
              </a:spcAft>
            </a:pPr>
            <a:r>
              <a:rPr sz="1300" b="1" lang="en-GB">
                <a:solidFill>
                  <a:srgbClr val="000000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Design Studio:</a:t>
            </a:r>
            <a:r>
              <a:rPr sz="1300" b="0" lang="en-GB">
                <a:solidFill>
                  <a:srgbClr val="000000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drag, resize, edit text, add contacts and QR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657225" y="1190000"/>
            <a:ext cx="55000" cy="650000"/>
          </a:xfrm>
          <a:prstGeom prst="rect">
            <a:avLst/>
          </a:prstGeom>
          <a:solidFill>
            <a:srgbClr val="058D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2" name="Rounded Rectangle 91"/>
          <p:cNvSpPr/>
          <p:nvPr/>
        </p:nvSpPr>
        <p:spPr>
          <a:xfrm>
            <a:off x="356775" y="2040000"/>
            <a:ext cx="4130000" cy="83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rtlCol="0" anchor="ctr" wrap="square" lIns="182880" rIns="182880"/>
          <a:lstStyle/>
          <a:p>
            <a:pPr algn="l">
              <a:spcAft>
                <a:spcPts val="200"/>
              </a:spcAft>
            </a:pPr>
            <a:r>
              <a:rPr sz="1300" b="1" lang="en-GB">
                <a:solidFill>
                  <a:srgbClr val="000000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Plan a week</a:t>
            </a:r>
            <a:r>
              <a:rPr sz="1300" b="0" lang="en-GB">
                <a:solidFill>
                  <a:srgbClr val="000000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from one sentence of offers</a:t>
            </a:r>
          </a:p>
        </p:txBody>
      </p:sp>
      <p:sp>
        <p:nvSpPr>
          <p:cNvPr id="93" name="Rectangle 92"/>
          <p:cNvSpPr/>
          <p:nvPr/>
        </p:nvSpPr>
        <p:spPr>
          <a:xfrm>
            <a:off x="356775" y="2130000"/>
            <a:ext cx="55000" cy="650000"/>
          </a:xfrm>
          <a:prstGeom prst="rect">
            <a:avLst/>
          </a:prstGeom>
          <a:solidFill>
            <a:srgbClr val="058D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4" name="Rounded Rectangle 93"/>
          <p:cNvSpPr/>
          <p:nvPr/>
        </p:nvSpPr>
        <p:spPr>
          <a:xfrm>
            <a:off x="4657225" y="2040000"/>
            <a:ext cx="4130000" cy="83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rtlCol="0" anchor="ctr" wrap="square" lIns="182880" rIns="182880"/>
          <a:lstStyle/>
          <a:p>
            <a:pPr algn="l">
              <a:spcAft>
                <a:spcPts val="200"/>
              </a:spcAft>
            </a:pPr>
            <a:r>
              <a:rPr sz="1300" b="1" lang="en-GB">
                <a:solidFill>
                  <a:srgbClr val="000000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Carousels</a:t>
            </a:r>
            <a:r>
              <a:rPr sz="1300" b="0" lang="en-GB">
                <a:solidFill>
                  <a:srgbClr val="000000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of 3-10 slides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657225" y="2130000"/>
            <a:ext cx="55000" cy="650000"/>
          </a:xfrm>
          <a:prstGeom prst="rect">
            <a:avLst/>
          </a:prstGeom>
          <a:solidFill>
            <a:srgbClr val="058D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6" name="Rounded Rectangle 95"/>
          <p:cNvSpPr/>
          <p:nvPr/>
        </p:nvSpPr>
        <p:spPr>
          <a:xfrm>
            <a:off x="356775" y="2980000"/>
            <a:ext cx="4130000" cy="83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rtlCol="0" anchor="ctr" wrap="square" lIns="182880" rIns="182880"/>
          <a:lstStyle/>
          <a:p>
            <a:pPr algn="l">
              <a:spcAft>
                <a:spcPts val="200"/>
              </a:spcAft>
            </a:pPr>
            <a:r>
              <a:rPr sz="1300" b="1" lang="en-GB">
                <a:solidFill>
                  <a:srgbClr val="000000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13 code-drawn characters,</a:t>
            </a:r>
            <a:r>
              <a:rPr sz="1300" b="0" lang="en-GB">
                <a:solidFill>
                  <a:srgbClr val="000000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41 actions</a:t>
            </a:r>
          </a:p>
        </p:txBody>
      </p:sp>
      <p:sp>
        <p:nvSpPr>
          <p:cNvPr id="97" name="Rectangle 96"/>
          <p:cNvSpPr/>
          <p:nvPr/>
        </p:nvSpPr>
        <p:spPr>
          <a:xfrm>
            <a:off x="356775" y="3070000"/>
            <a:ext cx="55000" cy="650000"/>
          </a:xfrm>
          <a:prstGeom prst="rect">
            <a:avLst/>
          </a:prstGeom>
          <a:solidFill>
            <a:srgbClr val="058D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8" name="Rounded Rectangle 97"/>
          <p:cNvSpPr/>
          <p:nvPr/>
        </p:nvSpPr>
        <p:spPr>
          <a:xfrm>
            <a:off x="4657225" y="2980000"/>
            <a:ext cx="4130000" cy="83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rtlCol="0" anchor="ctr" wrap="square" lIns="182880" rIns="182880"/>
          <a:lstStyle/>
          <a:p>
            <a:pPr algn="l">
              <a:spcAft>
                <a:spcPts val="200"/>
              </a:spcAft>
            </a:pPr>
            <a:r>
              <a:rPr sz="1300" b="1" lang="en-GB">
                <a:solidFill>
                  <a:srgbClr val="000000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Brand Face</a:t>
            </a:r>
            <a:r>
              <a:rPr sz="1300" b="0" lang="en-GB">
                <a:solidFill>
                  <a:srgbClr val="000000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in 4 kinds; price approved first</a:t>
            </a:r>
          </a:p>
        </p:txBody>
      </p:sp>
      <p:sp>
        <p:nvSpPr>
          <p:cNvPr id="99" name="Rectangle 98"/>
          <p:cNvSpPr/>
          <p:nvPr/>
        </p:nvSpPr>
        <p:spPr>
          <a:xfrm>
            <a:off x="4657225" y="3070000"/>
            <a:ext cx="55000" cy="650000"/>
          </a:xfrm>
          <a:prstGeom prst="rect">
            <a:avLst/>
          </a:prstGeom>
          <a:solidFill>
            <a:srgbClr val="058D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0" name="Rounded Rectangle 99"/>
          <p:cNvSpPr/>
          <p:nvPr/>
        </p:nvSpPr>
        <p:spPr>
          <a:xfrm>
            <a:off x="356775" y="3920000"/>
            <a:ext cx="4130000" cy="83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rtlCol="0" anchor="ctr" wrap="square" lIns="182880" rIns="182880"/>
          <a:lstStyle/>
          <a:p>
            <a:pPr algn="l">
              <a:spcAft>
                <a:spcPts val="200"/>
              </a:spcAft>
            </a:pPr>
            <a:r>
              <a:rPr sz="1300" b="1" lang="en-GB">
                <a:solidFill>
                  <a:srgbClr val="000000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Ideas:</a:t>
            </a:r>
            <a:r>
              <a:rPr sz="1300" b="0" lang="en-GB">
                <a:solidFill>
                  <a:srgbClr val="000000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weekly trend research with dated sources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356775" y="4010000"/>
            <a:ext cx="55000" cy="650000"/>
          </a:xfrm>
          <a:prstGeom prst="rect">
            <a:avLst/>
          </a:prstGeom>
          <a:solidFill>
            <a:srgbClr val="058D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2" name="Rounded Rectangle 101"/>
          <p:cNvSpPr/>
          <p:nvPr/>
        </p:nvSpPr>
        <p:spPr>
          <a:xfrm>
            <a:off x="4657225" y="3920000"/>
            <a:ext cx="4130000" cy="83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rtlCol="0" anchor="ctr" wrap="square" lIns="182880" rIns="182880"/>
          <a:lstStyle/>
          <a:p>
            <a:pPr algn="l">
              <a:spcAft>
                <a:spcPts val="200"/>
              </a:spcAft>
            </a:pPr>
            <a:r>
              <a:rPr sz="1300" b="1" lang="en-GB">
                <a:solidFill>
                  <a:srgbClr val="000000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Queue,</a:t>
            </a:r>
            <a:r>
              <a:rPr sz="1300" b="0" lang="en-GB">
                <a:solidFill>
                  <a:srgbClr val="000000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Meta publishing, admin dashboard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4657225" y="4010000"/>
            <a:ext cx="55000" cy="650000"/>
          </a:xfrm>
          <a:prstGeom prst="rect">
            <a:avLst/>
          </a:prstGeom>
          <a:solidFill>
            <a:srgbClr val="058D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Process flow diagram or Use-case diagram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96" name="Rounded Rectangle 95"/>
          <p:cNvSpPr/>
          <p:nvPr/>
        </p:nvSpPr>
        <p:spPr>
          <a:xfrm>
            <a:off x="356775" y="1900000"/>
            <a:ext cx="1900000" cy="1000000"/>
          </a:xfrm>
          <a:prstGeom prst="roundRect">
            <a:avLst>
              <a:gd name="adj" fmla="val 10000"/>
            </a:avLst>
          </a:prstGeom>
          <a:solidFill>
            <a:srgbClr val="E6F4FA"/>
          </a:solidFill>
          <a:ln w="15875">
            <a:solidFill>
              <a:srgbClr val="058DC7"/>
            </a:solidFill>
          </a:ln>
        </p:spPr>
        <p:txBody>
          <a:bodyPr rtlCol="0" anchor="ctr" wrap="square" lIns="73152" rIns="73152"/>
          <a:lstStyle/>
          <a:p>
            <a:pPr algn="ctr">
              <a:spcAft>
                <a:spcPts val="200"/>
              </a:spcAft>
            </a:pPr>
            <a:r>
              <a:rPr sz="1300" b="1" lang="en-GB">
                <a:solidFill>
                  <a:srgbClr val="000000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1. Sign in</a:t>
            </a:r>
          </a:p>
          <a:p>
            <a:pPr algn="ctr">
              <a:spcAft>
                <a:spcPts val="200"/>
              </a:spcAft>
            </a:pPr>
            <a:r>
              <a:rPr sz="1200" b="0" lang="en-GB">
                <a:solidFill>
                  <a:srgbClr val="000000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email link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2533591" y="1900000"/>
            <a:ext cx="1900000" cy="1000000"/>
          </a:xfrm>
          <a:prstGeom prst="roundRect">
            <a:avLst>
              <a:gd name="adj" fmla="val 10000"/>
            </a:avLst>
          </a:prstGeom>
          <a:solidFill>
            <a:srgbClr val="E6F4FA"/>
          </a:solidFill>
          <a:ln w="15875">
            <a:solidFill>
              <a:srgbClr val="058DC7"/>
            </a:solidFill>
          </a:ln>
        </p:spPr>
        <p:txBody>
          <a:bodyPr rtlCol="0" anchor="ctr" wrap="square" lIns="73152" rIns="73152"/>
          <a:lstStyle/>
          <a:p>
            <a:pPr algn="ctr">
              <a:spcAft>
                <a:spcPts val="200"/>
              </a:spcAft>
            </a:pPr>
            <a:r>
              <a:rPr sz="1300" b="1" lang="en-GB">
                <a:solidFill>
                  <a:srgbClr val="000000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2. Set up brand</a:t>
            </a:r>
          </a:p>
          <a:p>
            <a:pPr algn="ctr">
              <a:spcAft>
                <a:spcPts val="200"/>
              </a:spcAft>
            </a:pPr>
            <a:r>
              <a:rPr sz="1200" b="0" lang="en-GB">
                <a:solidFill>
                  <a:srgbClr val="000000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import website or answer questions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4710407" y="1900000"/>
            <a:ext cx="1900000" cy="1000000"/>
          </a:xfrm>
          <a:prstGeom prst="roundRect">
            <a:avLst>
              <a:gd name="adj" fmla="val 10000"/>
            </a:avLst>
          </a:prstGeom>
          <a:solidFill>
            <a:srgbClr val="E6F4FA"/>
          </a:solidFill>
          <a:ln w="15875">
            <a:solidFill>
              <a:srgbClr val="058DC7"/>
            </a:solidFill>
          </a:ln>
        </p:spPr>
        <p:txBody>
          <a:bodyPr rtlCol="0" anchor="ctr" wrap="square" lIns="73152" rIns="73152"/>
          <a:lstStyle/>
          <a:p>
            <a:pPr algn="ctr">
              <a:spcAft>
                <a:spcPts val="200"/>
              </a:spcAft>
            </a:pPr>
            <a:r>
              <a:rPr sz="1300" b="1" lang="en-GB">
                <a:solidFill>
                  <a:srgbClr val="000000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3. Write the brief</a:t>
            </a:r>
          </a:p>
          <a:p>
            <a:pPr algn="ctr">
              <a:spcAft>
                <a:spcPts val="200"/>
              </a:spcAft>
            </a:pPr>
            <a:r>
              <a:rPr sz="1200" b="0" lang="en-GB">
                <a:solidFill>
                  <a:srgbClr val="000000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offer, selling points, contacts, QR, dates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6887223" y="1900000"/>
            <a:ext cx="1900000" cy="1000000"/>
          </a:xfrm>
          <a:prstGeom prst="roundRect">
            <a:avLst>
              <a:gd name="adj" fmla="val 10000"/>
            </a:avLst>
          </a:prstGeom>
          <a:solidFill>
            <a:srgbClr val="E6F4FA"/>
          </a:solidFill>
          <a:ln w="15875">
            <a:solidFill>
              <a:srgbClr val="058DC7"/>
            </a:solidFill>
          </a:ln>
        </p:spPr>
        <p:txBody>
          <a:bodyPr rtlCol="0" anchor="ctr" wrap="square" lIns="73152" rIns="73152"/>
          <a:lstStyle/>
          <a:p>
            <a:pPr algn="ctr">
              <a:spcAft>
                <a:spcPts val="200"/>
              </a:spcAft>
            </a:pPr>
            <a:r>
              <a:rPr sz="1300" b="1" lang="en-GB">
                <a:solidFill>
                  <a:srgbClr val="000000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4. Pick and edit a design</a:t>
            </a:r>
          </a:p>
          <a:p>
            <a:pPr algn="ctr">
              <a:spcAft>
                <a:spcPts val="200"/>
              </a:spcAft>
            </a:pPr>
            <a:r>
              <a:rPr sz="1200" b="0" lang="en-GB">
                <a:solidFill>
                  <a:srgbClr val="000000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3 options or Design Studio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6887223" y="3300000"/>
            <a:ext cx="1900000" cy="1000000"/>
          </a:xfrm>
          <a:prstGeom prst="roundRect">
            <a:avLst>
              <a:gd name="adj" fmla="val 10000"/>
            </a:avLst>
          </a:prstGeom>
          <a:solidFill>
            <a:srgbClr val="E6F4FA"/>
          </a:solidFill>
          <a:ln w="15875">
            <a:solidFill>
              <a:srgbClr val="058DC7"/>
            </a:solidFill>
          </a:ln>
        </p:spPr>
        <p:txBody>
          <a:bodyPr rtlCol="0" anchor="ctr" wrap="square" lIns="73152" rIns="73152"/>
          <a:lstStyle/>
          <a:p>
            <a:pPr algn="ctr">
              <a:spcAft>
                <a:spcPts val="200"/>
              </a:spcAft>
            </a:pPr>
            <a:r>
              <a:rPr sz="1300" b="1" lang="en-GB">
                <a:solidFill>
                  <a:srgbClr val="000000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5. Review</a:t>
            </a:r>
          </a:p>
          <a:p>
            <a:pPr algn="ctr">
              <a:spcAft>
                <a:spcPts val="200"/>
              </a:spcAft>
            </a:pPr>
            <a:r>
              <a:rPr sz="1200" b="0" lang="en-GB">
                <a:solidFill>
                  <a:srgbClr val="000000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fact flags, captions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4710407" y="3300000"/>
            <a:ext cx="1900000" cy="1000000"/>
          </a:xfrm>
          <a:prstGeom prst="roundRect">
            <a:avLst>
              <a:gd name="adj" fmla="val 10000"/>
            </a:avLst>
          </a:prstGeom>
          <a:solidFill>
            <a:srgbClr val="E6F4FA"/>
          </a:solidFill>
          <a:ln w="38100">
            <a:solidFill>
              <a:srgbClr val="058DC7"/>
            </a:solidFill>
          </a:ln>
        </p:spPr>
        <p:txBody>
          <a:bodyPr rtlCol="0" anchor="ctr" wrap="square" lIns="73152" rIns="73152"/>
          <a:lstStyle/>
          <a:p>
            <a:pPr algn="ctr">
              <a:spcAft>
                <a:spcPts val="200"/>
              </a:spcAft>
            </a:pPr>
            <a:r>
              <a:rPr sz="1300" b="1" lang="en-GB">
                <a:solidFill>
                  <a:srgbClr val="000000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6. Approve and schedule</a:t>
            </a:r>
          </a:p>
          <a:p>
            <a:pPr algn="ctr">
              <a:spcAft>
                <a:spcPts val="200"/>
              </a:spcAft>
            </a:pPr>
            <a:r>
              <a:rPr sz="1200" b="0" lang="en-GB">
                <a:solidFill>
                  <a:srgbClr val="000000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owner decides; nothing skips this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2533591" y="3300000"/>
            <a:ext cx="1900000" cy="1000000"/>
          </a:xfrm>
          <a:prstGeom prst="roundRect">
            <a:avLst>
              <a:gd name="adj" fmla="val 10000"/>
            </a:avLst>
          </a:prstGeom>
          <a:solidFill>
            <a:srgbClr val="E6F4FA"/>
          </a:solidFill>
          <a:ln w="15875">
            <a:solidFill>
              <a:srgbClr val="058DC7"/>
            </a:solidFill>
          </a:ln>
        </p:spPr>
        <p:txBody>
          <a:bodyPr rtlCol="0" anchor="ctr" wrap="square" lIns="73152" rIns="73152"/>
          <a:lstStyle/>
          <a:p>
            <a:pPr algn="ctr">
              <a:spcAft>
                <a:spcPts val="200"/>
              </a:spcAft>
            </a:pPr>
            <a:r>
              <a:rPr sz="1300" b="1" lang="en-GB">
                <a:solidFill>
                  <a:srgbClr val="000000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7. Published or emailed</a:t>
            </a:r>
          </a:p>
          <a:p>
            <a:pPr algn="ctr">
              <a:spcAft>
                <a:spcPts val="200"/>
              </a:spcAft>
            </a:pPr>
            <a:r>
              <a:rPr sz="1200" b="0" lang="en-GB">
                <a:solidFill>
                  <a:srgbClr val="000000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ready to share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356775" y="3300000"/>
            <a:ext cx="1900000" cy="1000000"/>
          </a:xfrm>
          <a:prstGeom prst="roundRect">
            <a:avLst>
              <a:gd name="adj" fmla="val 10000"/>
            </a:avLst>
          </a:prstGeom>
          <a:solidFill>
            <a:srgbClr val="E6F4FA"/>
          </a:solidFill>
          <a:ln w="15875">
            <a:solidFill>
              <a:srgbClr val="058DC7"/>
            </a:solidFill>
          </a:ln>
        </p:spPr>
        <p:txBody>
          <a:bodyPr rtlCol="0" anchor="ctr" wrap="square" lIns="73152" rIns="73152"/>
          <a:lstStyle/>
          <a:p>
            <a:pPr algn="ctr">
              <a:spcAft>
                <a:spcPts val="200"/>
              </a:spcAft>
            </a:pPr>
            <a:r>
              <a:rPr sz="1300" b="1" lang="en-GB">
                <a:solidFill>
                  <a:srgbClr val="000000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8. Results</a:t>
            </a:r>
          </a:p>
          <a:p>
            <a:pPr algn="ctr">
              <a:spcAft>
                <a:spcPts val="200"/>
              </a:spcAft>
            </a:pPr>
            <a:r>
              <a:rPr sz="1200" b="0" lang="en-GB">
                <a:solidFill>
                  <a:srgbClr val="000000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clicks and QR scans</a:t>
            </a:r>
          </a:p>
        </p:txBody>
      </p:sp>
      <p:cxnSp>
        <p:nvCxnSpPr>
          <p:cNvPr id="104" name="Connector 103"/>
          <p:cNvCxnSpPr>
            <a:stCxn id="96" idx="3"/>
            <a:endCxn id="97" idx="1"/>
          </p:cNvCxnSpPr>
          <p:nvPr/>
        </p:nvCxnSpPr>
        <p:spPr>
          <a:xfrm flipV="1">
            <a:off x="2256775" y="2400000"/>
            <a:ext cx="276816" cy="0"/>
          </a:xfrm>
          <a:prstGeom prst="line">
            <a:avLst/>
          </a:prstGeom>
          <a:ln w="22225">
            <a:solidFill>
              <a:srgbClr val="058DC7"/>
            </a:solidFill>
            <a:tailEnd type="triangle" w="med" len="med"/>
          </a:ln>
        </p:spPr>
      </p:cxnSp>
      <p:cxnSp>
        <p:nvCxnSpPr>
          <p:cNvPr id="105" name="Connector 104"/>
          <p:cNvCxnSpPr>
            <a:stCxn id="97" idx="3"/>
            <a:endCxn id="98" idx="1"/>
          </p:cNvCxnSpPr>
          <p:nvPr/>
        </p:nvCxnSpPr>
        <p:spPr>
          <a:xfrm flipV="1">
            <a:off x="4433591" y="2400000"/>
            <a:ext cx="276816" cy="0"/>
          </a:xfrm>
          <a:prstGeom prst="line">
            <a:avLst/>
          </a:prstGeom>
          <a:ln w="22225">
            <a:solidFill>
              <a:srgbClr val="058DC7"/>
            </a:solidFill>
            <a:tailEnd type="triangle" w="med" len="med"/>
          </a:ln>
        </p:spPr>
      </p:cxnSp>
      <p:cxnSp>
        <p:nvCxnSpPr>
          <p:cNvPr id="106" name="Connector 105"/>
          <p:cNvCxnSpPr>
            <a:stCxn id="98" idx="3"/>
            <a:endCxn id="99" idx="1"/>
          </p:cNvCxnSpPr>
          <p:nvPr/>
        </p:nvCxnSpPr>
        <p:spPr>
          <a:xfrm flipV="1">
            <a:off x="6610407" y="2400000"/>
            <a:ext cx="276816" cy="0"/>
          </a:xfrm>
          <a:prstGeom prst="line">
            <a:avLst/>
          </a:prstGeom>
          <a:ln w="22225">
            <a:solidFill>
              <a:srgbClr val="058DC7"/>
            </a:solidFill>
            <a:tailEnd type="triangle" w="med" len="med"/>
          </a:ln>
        </p:spPr>
      </p:cxnSp>
      <p:cxnSp>
        <p:nvCxnSpPr>
          <p:cNvPr id="107" name="Connector 106"/>
          <p:cNvCxnSpPr>
            <a:stCxn id="99" idx="2"/>
            <a:endCxn id="100" idx="0"/>
          </p:cNvCxnSpPr>
          <p:nvPr/>
        </p:nvCxnSpPr>
        <p:spPr>
          <a:xfrm flipH="1">
            <a:off x="7837223" y="2900000"/>
            <a:ext cx="0" cy="400000"/>
          </a:xfrm>
          <a:prstGeom prst="line">
            <a:avLst/>
          </a:prstGeom>
          <a:ln w="22225">
            <a:solidFill>
              <a:srgbClr val="058DC7"/>
            </a:solidFill>
            <a:tailEnd type="triangle" w="med" len="med"/>
          </a:ln>
        </p:spPr>
      </p:cxnSp>
      <p:cxnSp>
        <p:nvCxnSpPr>
          <p:cNvPr id="108" name="Connector 107"/>
          <p:cNvCxnSpPr>
            <a:stCxn id="100" idx="1"/>
            <a:endCxn id="101" idx="3"/>
          </p:cNvCxnSpPr>
          <p:nvPr/>
        </p:nvCxnSpPr>
        <p:spPr>
          <a:xfrm flipH="1" flipV="1">
            <a:off x="6610407" y="3800000"/>
            <a:ext cx="276816" cy="0"/>
          </a:xfrm>
          <a:prstGeom prst="line">
            <a:avLst/>
          </a:prstGeom>
          <a:ln w="22225">
            <a:solidFill>
              <a:srgbClr val="058DC7"/>
            </a:solidFill>
            <a:tailEnd type="triangle" w="med" len="med"/>
          </a:ln>
        </p:spPr>
      </p:cxnSp>
      <p:cxnSp>
        <p:nvCxnSpPr>
          <p:cNvPr id="109" name="Connector 108"/>
          <p:cNvCxnSpPr>
            <a:stCxn id="101" idx="1"/>
            <a:endCxn id="102" idx="3"/>
          </p:cNvCxnSpPr>
          <p:nvPr/>
        </p:nvCxnSpPr>
        <p:spPr>
          <a:xfrm flipH="1" flipV="1">
            <a:off x="4433591" y="3800000"/>
            <a:ext cx="276816" cy="0"/>
          </a:xfrm>
          <a:prstGeom prst="line">
            <a:avLst/>
          </a:prstGeom>
          <a:ln w="22225">
            <a:solidFill>
              <a:srgbClr val="058DC7"/>
            </a:solidFill>
            <a:tailEnd type="triangle" w="med" len="med"/>
          </a:ln>
        </p:spPr>
      </p:cxnSp>
      <p:cxnSp>
        <p:nvCxnSpPr>
          <p:cNvPr id="110" name="Connector 109"/>
          <p:cNvCxnSpPr>
            <a:stCxn id="102" idx="1"/>
            <a:endCxn id="103" idx="3"/>
          </p:cNvCxnSpPr>
          <p:nvPr/>
        </p:nvCxnSpPr>
        <p:spPr>
          <a:xfrm flipH="1" flipV="1">
            <a:off x="2256775" y="3800000"/>
            <a:ext cx="276816" cy="0"/>
          </a:xfrm>
          <a:prstGeom prst="line">
            <a:avLst/>
          </a:prstGeom>
          <a:ln w="22225">
            <a:solidFill>
              <a:srgbClr val="058DC7"/>
            </a:solidFill>
            <a:tailEnd type="triangle" w="med" len="med"/>
          </a:ln>
        </p:spPr>
      </p:cxnSp>
      <p:sp>
        <p:nvSpPr>
          <p:cNvPr id="111" name="Rounded Rectangle 110"/>
          <p:cNvSpPr/>
          <p:nvPr/>
        </p:nvSpPr>
        <p:spPr>
          <a:xfrm>
            <a:off x="3810407" y="1090000"/>
            <a:ext cx="1700000" cy="480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058DC7"/>
            </a:solidFill>
            <a:prstDash val="dash"/>
          </a:ln>
        </p:spPr>
        <p:txBody>
          <a:bodyPr rtlCol="0" anchor="ctr" wrap="square" lIns="45720" rIns="45720" tIns="18288" bIns="18288"/>
          <a:lstStyle/>
          <a:p>
            <a:pPr algn="ctr">
              <a:spcAft>
                <a:spcPts val="0"/>
              </a:spcAft>
            </a:pPr>
            <a:r>
              <a:rPr sz="1200" b="1" lang="en-GB">
                <a:solidFill>
                  <a:srgbClr val="000000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Ideas</a:t>
            </a:r>
          </a:p>
          <a:p>
            <a:pPr algn="ctr">
              <a:spcAft>
                <a:spcPts val="0"/>
              </a:spcAft>
            </a:pPr>
            <a:r>
              <a:rPr sz="1200" b="0" lang="en-GB">
                <a:solidFill>
                  <a:srgbClr val="000000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"Make this post"</a:t>
            </a:r>
          </a:p>
        </p:txBody>
      </p:sp>
      <p:cxnSp>
        <p:nvCxnSpPr>
          <p:cNvPr id="112" name="Connector 111"/>
          <p:cNvCxnSpPr>
            <a:stCxn id="111" idx="2"/>
            <a:endCxn id="98" idx="0"/>
          </p:cNvCxnSpPr>
          <p:nvPr/>
        </p:nvCxnSpPr>
        <p:spPr>
          <a:xfrm>
            <a:off x="4660407" y="1570000"/>
            <a:ext cx="1000000" cy="330000"/>
          </a:xfrm>
          <a:prstGeom prst="line">
            <a:avLst/>
          </a:prstGeom>
          <a:ln w="15875">
            <a:solidFill>
              <a:srgbClr val="058DC7"/>
            </a:solidFill>
            <a:tailEnd type="triangle" w="med" len="med"/>
          </a:ln>
        </p:spPr>
      </p:cxnSp>
      <p:sp>
        <p:nvSpPr>
          <p:cNvPr id="113" name="Rounded Rectangle 112"/>
          <p:cNvSpPr/>
          <p:nvPr/>
        </p:nvSpPr>
        <p:spPr>
          <a:xfrm>
            <a:off x="5810407" y="1090000"/>
            <a:ext cx="1700000" cy="480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058DC7"/>
            </a:solidFill>
            <a:prstDash val="dash"/>
          </a:ln>
        </p:spPr>
        <p:txBody>
          <a:bodyPr rtlCol="0" anchor="ctr" wrap="square" lIns="45720" rIns="45720" tIns="18288" bIns="18288"/>
          <a:lstStyle/>
          <a:p>
            <a:pPr algn="ctr">
              <a:spcAft>
                <a:spcPts val="0"/>
              </a:spcAft>
            </a:pPr>
            <a:r>
              <a:rPr sz="1200" b="1" lang="en-GB">
                <a:solidFill>
                  <a:srgbClr val="000000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Plan a week</a:t>
            </a:r>
          </a:p>
          <a:p>
            <a:pPr algn="ctr">
              <a:spcAft>
                <a:spcPts val="0"/>
              </a:spcAft>
            </a:pPr>
            <a:r>
              <a:rPr sz="1200" b="0" lang="en-GB">
                <a:solidFill>
                  <a:srgbClr val="000000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one sentence</a:t>
            </a:r>
          </a:p>
        </p:txBody>
      </p:sp>
      <p:cxnSp>
        <p:nvCxnSpPr>
          <p:cNvPr id="114" name="Connector 113"/>
          <p:cNvCxnSpPr>
            <a:stCxn id="113" idx="2"/>
            <a:endCxn id="98" idx="0"/>
          </p:cNvCxnSpPr>
          <p:nvPr/>
        </p:nvCxnSpPr>
        <p:spPr>
          <a:xfrm flipH="1">
            <a:off x="5660407" y="1570000"/>
            <a:ext cx="1000000" cy="330000"/>
          </a:xfrm>
          <a:prstGeom prst="line">
            <a:avLst/>
          </a:prstGeom>
          <a:ln w="15875">
            <a:solidFill>
              <a:srgbClr val="058DC7"/>
            </a:solidFill>
            <a:tailEnd type="triangle" w="med" len="med"/>
          </a:ln>
        </p:spPr>
      </p:cxnSp>
      <p:sp>
        <p:nvSpPr>
          <p:cNvPr id="115" name="TextBox 114"/>
          <p:cNvSpPr txBox="1"/>
          <p:nvPr/>
        </p:nvSpPr>
        <p:spPr>
          <a:xfrm>
            <a:off x="356775" y="4500000"/>
            <a:ext cx="843045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lang="en-GB">
                <a:solidFill>
                  <a:srgbClr val="595959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Flags loop back to the brief; changes loop back to design.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9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9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9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9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Wireframes/Mock diagrams of the proposed solution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04" name="TextBox 103"/>
          <p:cNvSpPr txBox="1"/>
          <p:nvPr/>
        </p:nvSpPr>
        <p:spPr>
          <a:xfrm>
            <a:off x="356775" y="1070000"/>
            <a:ext cx="843045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 lang="en-GB">
                <a:solidFill>
                  <a:srgbClr val="000000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Real screens from the running app, not mock-ups.</a:t>
            </a:r>
          </a:p>
        </p:txBody>
      </p:sp>
      <p:pic>
        <p:nvPicPr>
          <p:cNvPr id="105" name="Picture 104" descr="home.png"/>
          <p:cNvPicPr>
            <a:picLocks noChangeAspect="1"/>
          </p:cNvPicPr>
          <p:nvPr/>
        </p:nvPicPr>
        <p:blipFill>
          <a:blip r:embed="rId5"/>
          <a:srcRect b="98"/>
          <a:stretch>
            <a:fillRect/>
          </a:stretch>
        </p:blipFill>
        <p:spPr>
          <a:xfrm>
            <a:off x="356775" y="1500000"/>
            <a:ext cx="4100000" cy="2560000"/>
          </a:xfrm>
          <a:prstGeom prst="rect">
            <a:avLst/>
          </a:prstGeom>
          <a:ln w="9525">
            <a:solidFill>
              <a:srgbClr val="BFBFBF"/>
            </a:solidFill>
          </a:ln>
        </p:spPr>
      </p:pic>
      <p:sp>
        <p:nvSpPr>
          <p:cNvPr id="106" name="TextBox 105"/>
          <p:cNvSpPr txBox="1"/>
          <p:nvPr/>
        </p:nvSpPr>
        <p:spPr>
          <a:xfrm>
            <a:off x="356775" y="4120000"/>
            <a:ext cx="4100000" cy="4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lang="en-GB">
                <a:solidFill>
                  <a:srgbClr val="000000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Home: this week at a glance</a:t>
            </a:r>
          </a:p>
        </p:txBody>
      </p:sp>
      <p:pic>
        <p:nvPicPr>
          <p:cNvPr id="107" name="Picture 106" descr="plan.png"/>
          <p:cNvPicPr>
            <a:picLocks noChangeAspect="1"/>
          </p:cNvPicPr>
          <p:nvPr/>
        </p:nvPicPr>
        <p:blipFill>
          <a:blip r:embed="rId6"/>
          <a:srcRect b="98"/>
          <a:stretch>
            <a:fillRect/>
          </a:stretch>
        </p:blipFill>
        <p:spPr>
          <a:xfrm>
            <a:off x="4687225" y="1500000"/>
            <a:ext cx="4100000" cy="2560000"/>
          </a:xfrm>
          <a:prstGeom prst="rect">
            <a:avLst/>
          </a:prstGeom>
          <a:ln w="9525">
            <a:solidFill>
              <a:srgbClr val="BFBFBF"/>
            </a:solidFill>
          </a:ln>
        </p:spPr>
      </p:pic>
      <p:sp>
        <p:nvSpPr>
          <p:cNvPr id="108" name="TextBox 107"/>
          <p:cNvSpPr txBox="1"/>
          <p:nvPr/>
        </p:nvSpPr>
        <p:spPr>
          <a:xfrm>
            <a:off x="4687225" y="4120000"/>
            <a:ext cx="4100000" cy="4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lang="en-GB">
                <a:solidFill>
                  <a:srgbClr val="000000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Plan a week: one sentence of offers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Architecture diagram of the proposed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12" name="Rounded Rectangle 111"/>
          <p:cNvSpPr/>
          <p:nvPr/>
        </p:nvSpPr>
        <p:spPr>
          <a:xfrm>
            <a:off x="2500000" y="1080000"/>
            <a:ext cx="2300000" cy="3620000"/>
          </a:xfrm>
          <a:prstGeom prst="roundRect">
            <a:avLst>
              <a:gd name="adj" fmla="val 10000"/>
            </a:avLst>
          </a:prstGeom>
          <a:solidFill>
            <a:srgbClr val="E6F4FA"/>
          </a:solidFill>
          <a:ln w="28575">
            <a:solidFill>
              <a:srgbClr val="058DC7"/>
            </a:solidFill>
          </a:ln>
        </p:spPr>
        <p:txBody>
          <a:bodyPr rtlCol="0" anchor="ctr" wrap="square" lIns="73152" rIns="73152"/>
          <a:lstStyle/>
          <a:p>
            <a:pPr algn="ctr">
              <a:spcAft>
                <a:spcPts val="600"/>
              </a:spcAft>
            </a:pPr>
            <a:r>
              <a:rPr sz="1500" b="1" lang="en-GB">
                <a:solidFill>
                  <a:srgbClr val="000000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Next.js app</a:t>
            </a:r>
          </a:p>
          <a:p>
            <a:pPr algn="ctr">
              <a:spcAft>
                <a:spcPts val="600"/>
              </a:spcAft>
            </a:pPr>
            <a:r>
              <a:rPr sz="1200" b="0" lang="en-GB">
                <a:solidFill>
                  <a:srgbClr val="000000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Cloud Run</a:t>
            </a:r>
          </a:p>
          <a:p>
            <a:pPr algn="ctr">
              <a:spcAft>
                <a:spcPts val="600"/>
              </a:spcAft>
            </a:pPr>
            <a:r>
              <a:rPr sz="1200" b="0" lang="en-GB">
                <a:solidFill>
                  <a:srgbClr val="000000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australia-southeast1</a:t>
            </a:r>
          </a:p>
          <a:p>
            <a:pPr algn="ctr">
              <a:spcAft>
                <a:spcPts val="600"/>
              </a:spcAft>
            </a:pPr>
            <a:r>
              <a:rPr sz="1200" b="0" lang="en-GB">
                <a:solidFill>
                  <a:srgbClr val="000000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Renders all text and QR with code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356775" y="1500000"/>
            <a:ext cx="1750000" cy="900000"/>
          </a:xfrm>
          <a:prstGeom prst="roundRect">
            <a:avLst>
              <a:gd name="adj" fmla="val 10000"/>
            </a:avLst>
          </a:prstGeom>
          <a:solidFill>
            <a:srgbClr val="E6F4FA"/>
          </a:solidFill>
          <a:ln w="15875">
            <a:solidFill>
              <a:srgbClr val="058DC7"/>
            </a:solidFill>
          </a:ln>
        </p:spPr>
        <p:txBody>
          <a:bodyPr rtlCol="0" anchor="ctr" wrap="square" lIns="73152" rIns="73152"/>
          <a:lstStyle/>
          <a:p>
            <a:pPr algn="ctr">
              <a:spcAft>
                <a:spcPts val="200"/>
              </a:spcAft>
            </a:pPr>
            <a:r>
              <a:rPr sz="1300" b="1" lang="en-GB">
                <a:solidFill>
                  <a:srgbClr val="000000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Owner's browser</a:t>
            </a:r>
          </a:p>
          <a:p>
            <a:pPr algn="ctr">
              <a:spcAft>
                <a:spcPts val="200"/>
              </a:spcAft>
            </a:pPr>
            <a:r>
              <a:rPr sz="1200" b="0" lang="en-GB">
                <a:solidFill>
                  <a:srgbClr val="000000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desktop or phone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356775" y="3000000"/>
            <a:ext cx="1750000" cy="1150000"/>
          </a:xfrm>
          <a:prstGeom prst="roundRect">
            <a:avLst>
              <a:gd name="adj" fmla="val 10000"/>
            </a:avLst>
          </a:prstGeom>
          <a:solidFill>
            <a:srgbClr val="E6F4FA"/>
          </a:solidFill>
          <a:ln w="15875">
            <a:solidFill>
              <a:srgbClr val="058DC7"/>
            </a:solidFill>
          </a:ln>
        </p:spPr>
        <p:txBody>
          <a:bodyPr rtlCol="0" anchor="ctr" wrap="square" lIns="73152" rIns="73152"/>
          <a:lstStyle/>
          <a:p>
            <a:pPr algn="ctr">
              <a:spcAft>
                <a:spcPts val="200"/>
              </a:spcAft>
            </a:pPr>
            <a:r>
              <a:rPr sz="1300" b="1" lang="en-GB">
                <a:solidFill>
                  <a:srgbClr val="000000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Cloud Scheduler</a:t>
            </a:r>
          </a:p>
          <a:p>
            <a:pPr algn="ctr">
              <a:spcAft>
                <a:spcPts val="200"/>
              </a:spcAft>
            </a:pPr>
            <a:r>
              <a:rPr sz="1200" b="0" lang="en-GB">
                <a:solidFill>
                  <a:srgbClr val="000000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cron routes: queue, reminders, weekly, insights</a:t>
            </a:r>
          </a:p>
        </p:txBody>
      </p:sp>
      <p:cxnSp>
        <p:nvCxnSpPr>
          <p:cNvPr id="115" name="Connector 114"/>
          <p:cNvCxnSpPr>
            <a:stCxn id="113" idx="3"/>
          </p:cNvCxnSpPr>
          <p:nvPr/>
        </p:nvCxnSpPr>
        <p:spPr>
          <a:xfrm>
            <a:off x="2106775" y="1950000"/>
            <a:ext cx="393225" cy="0"/>
          </a:xfrm>
          <a:prstGeom prst="line">
            <a:avLst/>
          </a:prstGeom>
          <a:ln w="22225">
            <a:solidFill>
              <a:srgbClr val="058DC7"/>
            </a:solidFill>
            <a:tailEnd type="triangle" w="med" len="med"/>
          </a:ln>
        </p:spPr>
      </p:cxnSp>
      <p:cxnSp>
        <p:nvCxnSpPr>
          <p:cNvPr id="116" name="Connector 115"/>
          <p:cNvCxnSpPr>
            <a:stCxn id="114" idx="3"/>
          </p:cNvCxnSpPr>
          <p:nvPr/>
        </p:nvCxnSpPr>
        <p:spPr>
          <a:xfrm>
            <a:off x="2106775" y="3575000"/>
            <a:ext cx="393225" cy="0"/>
          </a:xfrm>
          <a:prstGeom prst="line">
            <a:avLst/>
          </a:prstGeom>
          <a:ln w="22225">
            <a:solidFill>
              <a:srgbClr val="058DC7"/>
            </a:solidFill>
            <a:tailEnd type="triangle" w="med" len="med"/>
          </a:ln>
        </p:spPr>
      </p:cxnSp>
      <p:sp>
        <p:nvSpPr>
          <p:cNvPr id="117" name="Rounded Rectangle 116"/>
          <p:cNvSpPr/>
          <p:nvPr/>
        </p:nvSpPr>
        <p:spPr>
          <a:xfrm>
            <a:off x="5450000" y="1080000"/>
            <a:ext cx="3336225" cy="520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058DC7"/>
            </a:solidFill>
          </a:ln>
        </p:spPr>
        <p:txBody>
          <a:bodyPr rtlCol="0" anchor="ctr" wrap="square" lIns="73152" rIns="73152" tIns="18288" bIns="18288"/>
          <a:lstStyle/>
          <a:p>
            <a:pPr algn="ctr">
              <a:spcAft>
                <a:spcPts val="0"/>
              </a:spcAft>
            </a:pPr>
            <a:r>
              <a:rPr sz="1300" b="1" lang="en-GB">
                <a:solidFill>
                  <a:srgbClr val="000000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Gemini on Vertex AI</a:t>
            </a:r>
          </a:p>
          <a:p>
            <a:pPr algn="ctr">
              <a:spcAft>
                <a:spcPts val="0"/>
              </a:spcAft>
            </a:pPr>
            <a:r>
              <a:rPr sz="1200" b="0" lang="en-GB">
                <a:solidFill>
                  <a:srgbClr val="000000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text, image, grounded search</a:t>
            </a:r>
          </a:p>
        </p:txBody>
      </p:sp>
      <p:cxnSp>
        <p:nvCxnSpPr>
          <p:cNvPr id="118" name="Connector 117"/>
          <p:cNvCxnSpPr>
            <a:endCxn id="117" idx="1"/>
          </p:cNvCxnSpPr>
          <p:nvPr/>
        </p:nvCxnSpPr>
        <p:spPr>
          <a:xfrm>
            <a:off x="4800000" y="1340000"/>
            <a:ext cx="650000" cy="0"/>
          </a:xfrm>
          <a:prstGeom prst="line">
            <a:avLst/>
          </a:prstGeom>
          <a:ln w="22225">
            <a:solidFill>
              <a:srgbClr val="058DC7"/>
            </a:solidFill>
            <a:tailEnd type="triangle" w="med" len="med"/>
          </a:ln>
        </p:spPr>
      </p:cxnSp>
      <p:sp>
        <p:nvSpPr>
          <p:cNvPr id="119" name="Rounded Rectangle 118"/>
          <p:cNvSpPr/>
          <p:nvPr/>
        </p:nvSpPr>
        <p:spPr>
          <a:xfrm>
            <a:off x="5450000" y="1700000"/>
            <a:ext cx="3336225" cy="520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058DC7"/>
            </a:solidFill>
          </a:ln>
        </p:spPr>
        <p:txBody>
          <a:bodyPr rtlCol="0" anchor="ctr" wrap="square" lIns="73152" rIns="73152" tIns="18288" bIns="18288"/>
          <a:lstStyle/>
          <a:p>
            <a:pPr algn="ctr">
              <a:spcAft>
                <a:spcPts val="0"/>
              </a:spcAft>
            </a:pPr>
            <a:r>
              <a:rPr sz="1300" b="1" lang="en-GB">
                <a:solidFill>
                  <a:srgbClr val="000000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Supabase Postgres</a:t>
            </a:r>
          </a:p>
          <a:p>
            <a:pPr algn="ctr">
              <a:spcAft>
                <a:spcPts val="0"/>
              </a:spcAft>
            </a:pPr>
            <a:r>
              <a:rPr sz="1200" b="0" lang="en-GB">
                <a:solidFill>
                  <a:srgbClr val="000000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row-level security</a:t>
            </a:r>
          </a:p>
        </p:txBody>
      </p:sp>
      <p:cxnSp>
        <p:nvCxnSpPr>
          <p:cNvPr id="120" name="Connector 119"/>
          <p:cNvCxnSpPr>
            <a:endCxn id="119" idx="1"/>
          </p:cNvCxnSpPr>
          <p:nvPr/>
        </p:nvCxnSpPr>
        <p:spPr>
          <a:xfrm>
            <a:off x="4800000" y="1960000"/>
            <a:ext cx="650000" cy="0"/>
          </a:xfrm>
          <a:prstGeom prst="line">
            <a:avLst/>
          </a:prstGeom>
          <a:ln w="22225">
            <a:solidFill>
              <a:srgbClr val="058DC7"/>
            </a:solidFill>
            <a:tailEnd type="triangle" w="med" len="med"/>
          </a:ln>
        </p:spPr>
      </p:cxnSp>
      <p:sp>
        <p:nvSpPr>
          <p:cNvPr id="121" name="Rounded Rectangle 120"/>
          <p:cNvSpPr/>
          <p:nvPr/>
        </p:nvSpPr>
        <p:spPr>
          <a:xfrm>
            <a:off x="5450000" y="2320000"/>
            <a:ext cx="3336225" cy="520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058DC7"/>
            </a:solidFill>
          </a:ln>
        </p:spPr>
        <p:txBody>
          <a:bodyPr rtlCol="0" anchor="ctr" wrap="square" lIns="73152" rIns="73152" tIns="18288" bIns="18288"/>
          <a:lstStyle/>
          <a:p>
            <a:pPr algn="ctr">
              <a:spcAft>
                <a:spcPts val="0"/>
              </a:spcAft>
            </a:pPr>
            <a:r>
              <a:rPr sz="1300" b="1" lang="en-GB">
                <a:solidFill>
                  <a:srgbClr val="000000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Cloud Storage</a:t>
            </a:r>
          </a:p>
          <a:p>
            <a:pPr algn="ctr">
              <a:spcAft>
                <a:spcPts val="0"/>
              </a:spcAft>
            </a:pPr>
            <a:r>
              <a:rPr sz="1200" b="0" lang="en-GB">
                <a:solidFill>
                  <a:srgbClr val="000000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photos, renders, faces</a:t>
            </a:r>
          </a:p>
        </p:txBody>
      </p:sp>
      <p:cxnSp>
        <p:nvCxnSpPr>
          <p:cNvPr id="122" name="Connector 121"/>
          <p:cNvCxnSpPr>
            <a:endCxn id="121" idx="1"/>
          </p:cNvCxnSpPr>
          <p:nvPr/>
        </p:nvCxnSpPr>
        <p:spPr>
          <a:xfrm>
            <a:off x="4800000" y="2580000"/>
            <a:ext cx="650000" cy="0"/>
          </a:xfrm>
          <a:prstGeom prst="line">
            <a:avLst/>
          </a:prstGeom>
          <a:ln w="22225">
            <a:solidFill>
              <a:srgbClr val="058DC7"/>
            </a:solidFill>
            <a:tailEnd type="triangle" w="med" len="med"/>
          </a:ln>
        </p:spPr>
      </p:cxnSp>
      <p:sp>
        <p:nvSpPr>
          <p:cNvPr id="123" name="Rounded Rectangle 122"/>
          <p:cNvSpPr/>
          <p:nvPr/>
        </p:nvSpPr>
        <p:spPr>
          <a:xfrm>
            <a:off x="5450000" y="2940000"/>
            <a:ext cx="3336225" cy="520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058DC7"/>
            </a:solidFill>
          </a:ln>
        </p:spPr>
        <p:txBody>
          <a:bodyPr rtlCol="0" anchor="ctr" wrap="square" lIns="73152" rIns="73152" tIns="18288" bIns="18288"/>
          <a:lstStyle/>
          <a:p>
            <a:pPr algn="ctr">
              <a:spcAft>
                <a:spcPts val="0"/>
              </a:spcAft>
            </a:pPr>
            <a:r>
              <a:rPr sz="1300" b="1" lang="en-GB">
                <a:solidFill>
                  <a:srgbClr val="000000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Resend</a:t>
            </a:r>
          </a:p>
          <a:p>
            <a:pPr algn="ctr">
              <a:spcAft>
                <a:spcPts val="0"/>
              </a:spcAft>
            </a:pPr>
            <a:r>
              <a:rPr sz="1200" b="0" lang="en-GB">
                <a:solidFill>
                  <a:srgbClr val="000000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sign-in and post emails</a:t>
            </a:r>
          </a:p>
        </p:txBody>
      </p:sp>
      <p:cxnSp>
        <p:nvCxnSpPr>
          <p:cNvPr id="124" name="Connector 123"/>
          <p:cNvCxnSpPr>
            <a:endCxn id="123" idx="1"/>
          </p:cNvCxnSpPr>
          <p:nvPr/>
        </p:nvCxnSpPr>
        <p:spPr>
          <a:xfrm>
            <a:off x="4800000" y="3200000"/>
            <a:ext cx="650000" cy="0"/>
          </a:xfrm>
          <a:prstGeom prst="line">
            <a:avLst/>
          </a:prstGeom>
          <a:ln w="22225">
            <a:solidFill>
              <a:srgbClr val="058DC7"/>
            </a:solidFill>
            <a:tailEnd type="triangle" w="med" len="med"/>
          </a:ln>
        </p:spPr>
      </p:cxnSp>
      <p:sp>
        <p:nvSpPr>
          <p:cNvPr id="125" name="Rounded Rectangle 124"/>
          <p:cNvSpPr/>
          <p:nvPr/>
        </p:nvSpPr>
        <p:spPr>
          <a:xfrm>
            <a:off x="5450000" y="3560000"/>
            <a:ext cx="3336225" cy="520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058DC7"/>
            </a:solidFill>
          </a:ln>
        </p:spPr>
        <p:txBody>
          <a:bodyPr rtlCol="0" anchor="ctr" wrap="square" lIns="73152" rIns="73152" tIns="18288" bIns="18288"/>
          <a:lstStyle/>
          <a:p>
            <a:pPr algn="ctr">
              <a:spcAft>
                <a:spcPts val="0"/>
              </a:spcAft>
            </a:pPr>
            <a:r>
              <a:rPr sz="1300" b="1" lang="en-GB">
                <a:solidFill>
                  <a:srgbClr val="000000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Meta Graph API</a:t>
            </a:r>
          </a:p>
          <a:p>
            <a:pPr algn="ctr">
              <a:spcAft>
                <a:spcPts val="0"/>
              </a:spcAft>
            </a:pPr>
            <a:r>
              <a:rPr sz="1200" b="0" lang="en-GB">
                <a:solidFill>
                  <a:srgbClr val="000000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Instagram and Facebook publishing</a:t>
            </a:r>
          </a:p>
        </p:txBody>
      </p:sp>
      <p:cxnSp>
        <p:nvCxnSpPr>
          <p:cNvPr id="126" name="Connector 125"/>
          <p:cNvCxnSpPr>
            <a:endCxn id="125" idx="1"/>
          </p:cNvCxnSpPr>
          <p:nvPr/>
        </p:nvCxnSpPr>
        <p:spPr>
          <a:xfrm>
            <a:off x="4800000" y="3820000"/>
            <a:ext cx="650000" cy="0"/>
          </a:xfrm>
          <a:prstGeom prst="line">
            <a:avLst/>
          </a:prstGeom>
          <a:ln w="22225">
            <a:solidFill>
              <a:srgbClr val="058DC7"/>
            </a:solidFill>
            <a:tailEnd type="triangle" w="med" len="med"/>
          </a:ln>
        </p:spPr>
      </p:cxnSp>
      <p:sp>
        <p:nvSpPr>
          <p:cNvPr id="127" name="Rounded Rectangle 126"/>
          <p:cNvSpPr/>
          <p:nvPr/>
        </p:nvSpPr>
        <p:spPr>
          <a:xfrm>
            <a:off x="5450000" y="4180000"/>
            <a:ext cx="3336225" cy="520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058DC7"/>
            </a:solidFill>
          </a:ln>
        </p:spPr>
        <p:txBody>
          <a:bodyPr rtlCol="0" anchor="ctr" wrap="square" lIns="73152" rIns="73152" tIns="18288" bIns="18288"/>
          <a:lstStyle/>
          <a:p>
            <a:pPr algn="ctr">
              <a:spcAft>
                <a:spcPts val="0"/>
              </a:spcAft>
            </a:pPr>
            <a:r>
              <a:rPr sz="1300" b="1" lang="en-GB">
                <a:solidFill>
                  <a:srgbClr val="000000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Firestore + Firebase Auth</a:t>
            </a:r>
          </a:p>
          <a:p>
            <a:pPr algn="ctr">
              <a:spcAft>
                <a:spcPts val="0"/>
              </a:spcAft>
            </a:pPr>
            <a:r>
              <a:rPr sz="1200" b="0" lang="en-GB">
                <a:solidFill>
                  <a:srgbClr val="000000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live status per brand, read-only rules</a:t>
            </a:r>
          </a:p>
        </p:txBody>
      </p:sp>
      <p:cxnSp>
        <p:nvCxnSpPr>
          <p:cNvPr id="128" name="Connector 127"/>
          <p:cNvCxnSpPr>
            <a:endCxn id="127" idx="1"/>
          </p:cNvCxnSpPr>
          <p:nvPr/>
        </p:nvCxnSpPr>
        <p:spPr>
          <a:xfrm>
            <a:off x="4800000" y="4440000"/>
            <a:ext cx="650000" cy="0"/>
          </a:xfrm>
          <a:prstGeom prst="line">
            <a:avLst/>
          </a:prstGeom>
          <a:ln w="22225">
            <a:solidFill>
              <a:srgbClr val="058DC7"/>
            </a:solidFill>
            <a:tailEnd type="triangle" w="med" len="med"/>
          </a:ln>
        </p:spPr>
      </p:cxnSp>
      <p:sp>
        <p:nvSpPr>
          <p:cNvPr id="129" name="TextBox 128"/>
          <p:cNvSpPr txBox="1"/>
          <p:nvPr/>
        </p:nvSpPr>
        <p:spPr>
          <a:xfrm>
            <a:off x="356775" y="4330000"/>
            <a:ext cx="1750000" cy="5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lang="en-GB">
                <a:solidFill>
                  <a:srgbClr val="595959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Supabase holds the data; Firestore only live status.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Technologies to be used in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0" name="Rounded Rectangle 119"/>
          <p:cNvSpPr/>
          <p:nvPr/>
        </p:nvSpPr>
        <p:spPr>
          <a:xfrm>
            <a:off x="356775" y="1100000"/>
            <a:ext cx="4130000" cy="170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rtlCol="0" anchor="ctr" wrap="square" lIns="201168" rIns="201168" tIns="73152" bIns="73152"/>
          <a:lstStyle/>
          <a:p>
            <a:pPr algn="l">
              <a:spcAft>
                <a:spcPts val="400"/>
              </a:spcAft>
            </a:pPr>
            <a:r>
              <a:rPr sz="1400" b="1" lang="en-GB">
                <a:solidFill>
                  <a:srgbClr val="000000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Google Cloud</a:t>
            </a:r>
          </a:p>
          <a:p>
            <a:pPr algn="l" marL="228600" indent="-171450">
              <a:spcAft>
                <a:spcPts val="400"/>
              </a:spcAft>
              <a:buSzPts val="1300"/>
              <a:buFont typeface="Google Sans Flex"/>
              <a:buChar char="•"/>
            </a:pPr>
            <a:r>
              <a:rPr sz="1300" b="0" lang="en-GB">
                <a:solidFill>
                  <a:srgbClr val="000000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Cloud Run, Cloud Scheduler, Cloud Build</a:t>
            </a:r>
          </a:p>
          <a:p>
            <a:pPr algn="l" marL="228600" indent="-171450">
              <a:spcAft>
                <a:spcPts val="400"/>
              </a:spcAft>
              <a:buSzPts val="1300"/>
              <a:buFont typeface="Google Sans Flex"/>
              <a:buChar char="•"/>
            </a:pPr>
            <a:r>
              <a:rPr sz="1300" b="0" lang="en-GB">
                <a:solidFill>
                  <a:srgbClr val="000000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Firestore + Firebase Auth (live status)</a:t>
            </a:r>
          </a:p>
          <a:p>
            <a:pPr algn="l" marL="228600" indent="-171450">
              <a:spcAft>
                <a:spcPts val="400"/>
              </a:spcAft>
              <a:buSzPts val="1300"/>
              <a:buFont typeface="Google Sans Flex"/>
              <a:buChar char="•"/>
            </a:pPr>
            <a:r>
              <a:rPr sz="1300" b="0" lang="en-GB">
                <a:solidFill>
                  <a:srgbClr val="000000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Cloud Storage, Secret Manager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356775" y="1190000"/>
            <a:ext cx="55000" cy="1520000"/>
          </a:xfrm>
          <a:prstGeom prst="rect">
            <a:avLst/>
          </a:prstGeom>
          <a:solidFill>
            <a:srgbClr val="058D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2" name="Rounded Rectangle 121"/>
          <p:cNvSpPr/>
          <p:nvPr/>
        </p:nvSpPr>
        <p:spPr>
          <a:xfrm>
            <a:off x="4657225" y="1100000"/>
            <a:ext cx="4130000" cy="170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rtlCol="0" anchor="ctr" wrap="square" lIns="201168" rIns="201168" tIns="73152" bIns="73152"/>
          <a:lstStyle/>
          <a:p>
            <a:pPr algn="l">
              <a:spcAft>
                <a:spcPts val="400"/>
              </a:spcAft>
            </a:pPr>
            <a:r>
              <a:rPr sz="1400" b="1" lang="en-GB">
                <a:solidFill>
                  <a:srgbClr val="000000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Vertex AI</a:t>
            </a:r>
          </a:p>
          <a:p>
            <a:pPr algn="l" marL="228600" indent="-171450">
              <a:spcAft>
                <a:spcPts val="400"/>
              </a:spcAft>
              <a:buSzPts val="1300"/>
              <a:buFont typeface="Google Sans Flex"/>
              <a:buChar char="•"/>
            </a:pPr>
            <a:r>
              <a:rPr sz="1300" b="0" lang="en-GB">
                <a:solidFill>
                  <a:srgbClr val="000000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Gemini (gemini-3.8-flash)</a:t>
            </a:r>
          </a:p>
          <a:p>
            <a:pPr algn="l" marL="228600" indent="-171450">
              <a:spcAft>
                <a:spcPts val="400"/>
              </a:spcAft>
              <a:buSzPts val="1300"/>
              <a:buFont typeface="Google Sans Flex"/>
              <a:buChar char="•"/>
            </a:pPr>
            <a:r>
              <a:rPr sz="1300" b="0" lang="en-GB">
                <a:solidFill>
                  <a:srgbClr val="000000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Gemini 3.1 Flash Image, Imagen 4</a:t>
            </a:r>
          </a:p>
          <a:p>
            <a:pPr algn="l" marL="228600" indent="-171450">
              <a:spcAft>
                <a:spcPts val="400"/>
              </a:spcAft>
              <a:buSzPts val="1300"/>
              <a:buFont typeface="Google Sans Flex"/>
              <a:buChar char="•"/>
            </a:pPr>
            <a:r>
              <a:rPr sz="1300" b="0" lang="en-GB">
                <a:solidFill>
                  <a:srgbClr val="000000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Google Search grounding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4657225" y="1190000"/>
            <a:ext cx="55000" cy="1520000"/>
          </a:xfrm>
          <a:prstGeom prst="rect">
            <a:avLst/>
          </a:prstGeom>
          <a:solidFill>
            <a:srgbClr val="058D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4" name="Rounded Rectangle 123"/>
          <p:cNvSpPr/>
          <p:nvPr/>
        </p:nvSpPr>
        <p:spPr>
          <a:xfrm>
            <a:off x="356775" y="2980000"/>
            <a:ext cx="4130000" cy="170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rtlCol="0" anchor="ctr" wrap="square" lIns="201168" rIns="201168" tIns="73152" bIns="73152"/>
          <a:lstStyle/>
          <a:p>
            <a:pPr algn="l">
              <a:spcAft>
                <a:spcPts val="400"/>
              </a:spcAft>
            </a:pPr>
            <a:r>
              <a:rPr sz="1400" b="1" lang="en-GB">
                <a:solidFill>
                  <a:srgbClr val="000000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App and data</a:t>
            </a:r>
          </a:p>
          <a:p>
            <a:pPr algn="l" marL="228600" indent="-171450">
              <a:spcAft>
                <a:spcPts val="400"/>
              </a:spcAft>
              <a:buSzPts val="1300"/>
              <a:buFont typeface="Google Sans Flex"/>
              <a:buChar char="•"/>
            </a:pPr>
            <a:r>
              <a:rPr sz="1300" b="0" lang="en-GB">
                <a:solidFill>
                  <a:srgbClr val="000000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Next.js (App Router, TypeScript)</a:t>
            </a:r>
          </a:p>
          <a:p>
            <a:pPr algn="l" marL="228600" indent="-171450">
              <a:spcAft>
                <a:spcPts val="400"/>
              </a:spcAft>
              <a:buSzPts val="1300"/>
              <a:buFont typeface="Google Sans Flex"/>
              <a:buChar char="•"/>
            </a:pPr>
            <a:r>
              <a:rPr sz="1300" b="0" lang="en-GB">
                <a:solidFill>
                  <a:srgbClr val="000000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Supabase Postgres with row-level security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356775" y="3070000"/>
            <a:ext cx="55000" cy="1520000"/>
          </a:xfrm>
          <a:prstGeom prst="rect">
            <a:avLst/>
          </a:prstGeom>
          <a:solidFill>
            <a:srgbClr val="058D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6" name="Rounded Rectangle 125"/>
          <p:cNvSpPr/>
          <p:nvPr/>
        </p:nvSpPr>
        <p:spPr>
          <a:xfrm>
            <a:off x="4657225" y="2980000"/>
            <a:ext cx="4130000" cy="170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rtlCol="0" anchor="ctr" wrap="square" lIns="201168" rIns="201168" tIns="73152" bIns="73152"/>
          <a:lstStyle/>
          <a:p>
            <a:pPr algn="l">
              <a:spcAft>
                <a:spcPts val="400"/>
              </a:spcAft>
            </a:pPr>
            <a:r>
              <a:rPr sz="1400" b="1" lang="en-GB">
                <a:solidFill>
                  <a:srgbClr val="000000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Rendering and integrations</a:t>
            </a:r>
          </a:p>
          <a:p>
            <a:pPr algn="l" marL="228600" indent="-171450">
              <a:spcAft>
                <a:spcPts val="400"/>
              </a:spcAft>
              <a:buSzPts val="1300"/>
              <a:buFont typeface="Google Sans Flex"/>
              <a:buChar char="•"/>
            </a:pPr>
            <a:r>
              <a:rPr sz="1300" b="0" lang="en-GB">
                <a:solidFill>
                  <a:srgbClr val="000000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HarfBuzz + resvg, open-licence fonts</a:t>
            </a:r>
          </a:p>
          <a:p>
            <a:pPr algn="l" marL="228600" indent="-171450">
              <a:spcAft>
                <a:spcPts val="400"/>
              </a:spcAft>
              <a:buSzPts val="1300"/>
              <a:buFont typeface="Google Sans Flex"/>
              <a:buChar char="•"/>
            </a:pPr>
            <a:r>
              <a:rPr sz="1300" b="0" lang="en-GB">
                <a:solidFill>
                  <a:srgbClr val="000000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Resend email; Meta Graph API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4657225" y="3070000"/>
            <a:ext cx="55000" cy="1520000"/>
          </a:xfrm>
          <a:prstGeom prst="rect">
            <a:avLst/>
          </a:prstGeom>
          <a:solidFill>
            <a:srgbClr val="058D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2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2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2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22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Estimated implementation cost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graphicFrame>
        <p:nvGraphicFramePr>
          <p:cNvPr id="128" name="Table 127"/>
          <p:cNvGraphicFramePr>
            <a:graphicFrameLocks noGrp="1"/>
          </p:cNvGraphicFramePr>
          <p:nvPr/>
        </p:nvGraphicFramePr>
        <p:xfrm>
          <a:off x="356775" y="1100000"/>
          <a:ext cx="8430450" cy="30400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4900000"/>
                <a:gridCol w="3530450"/>
              </a:tblGrid>
              <a:tr h="380000">
                <a:tc>
                  <a:txBody>
                    <a:bodyPr wrap="square"/>
                    <a:lstStyle/>
                    <a:p>
                      <a:pPr algn="l"/>
                      <a:r>
                        <a:rPr sz="1300" b="1" lang="en-GB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Item</a:t>
                      </a:r>
                    </a:p>
                  </a:txBody>
                  <a:tcPr marL="54864" marR="54864" marT="27432" marB="27432" anchor="ctr">
                    <a:lnL w="9525" cap="flat" cmpd="sng">
                      <a:solidFill>
                        <a:srgbClr val="BFBFBF"/>
                      </a:solidFill>
                      <a:prstDash val="solid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lang="en-GB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Cost</a:t>
                      </a:r>
                    </a:p>
                  </a:txBody>
                  <a:tcPr marL="54864" marR="54864" marT="27432" marB="27432" anchor="ctr">
                    <a:lnL w="9525" cap="flat" cmpd="sng">
                      <a:solidFill>
                        <a:srgbClr val="BFBFBF"/>
                      </a:solidFill>
                      <a:prstDash val="solid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</a:tr>
              <a:tr h="380000">
                <a:tc>
                  <a:txBody>
                    <a:bodyPr wrap="square"/>
                    <a:lstStyle/>
                    <a:p>
                      <a:pPr algn="l"/>
                      <a:r>
                        <a:rPr sz="1300" b="0" lang="en-GB">
                          <a:solidFill>
                            <a:srgbClr val="000000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AI per brand per week (posts, captions, checks)</a:t>
                      </a:r>
                    </a:p>
                  </a:txBody>
                  <a:tcPr marL="54864" marR="54864" marT="27432" marB="27432" anchor="ctr">
                    <a:lnL w="9525" cap="flat" cmpd="sng">
                      <a:solidFill>
                        <a:srgbClr val="BFBFBF"/>
                      </a:solidFill>
                      <a:prstDash val="solid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lang="en-GB">
                          <a:solidFill>
                            <a:srgbClr val="000000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capped at $0.50</a:t>
                      </a:r>
                    </a:p>
                  </a:txBody>
                  <a:tcPr marL="54864" marR="54864" marT="27432" marB="27432" anchor="ctr">
                    <a:lnL w="9525" cap="flat" cmpd="sng">
                      <a:solidFill>
                        <a:srgbClr val="BFBFBF"/>
                      </a:solidFill>
                      <a:prstDash val="solid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0000">
                <a:tc>
                  <a:txBody>
                    <a:bodyPr wrap="square"/>
                    <a:lstStyle/>
                    <a:p>
                      <a:pPr algn="l"/>
                      <a:r>
                        <a:rPr sz="1300" b="0" lang="en-GB">
                          <a:solidFill>
                            <a:srgbClr val="000000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One post's copy (Gemini)</a:t>
                      </a:r>
                    </a:p>
                  </a:txBody>
                  <a:tcPr marL="54864" marR="54864" marT="27432" marB="27432" anchor="ctr">
                    <a:lnL w="9525" cap="flat" cmpd="sng">
                      <a:solidFill>
                        <a:srgbClr val="BFBFBF"/>
                      </a:solidFill>
                      <a:prstDash val="solid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lang="en-GB">
                          <a:solidFill>
                            <a:srgbClr val="000000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about $0.01</a:t>
                      </a:r>
                    </a:p>
                  </a:txBody>
                  <a:tcPr marL="54864" marR="54864" marT="27432" marB="27432" anchor="ctr">
                    <a:lnL w="9525" cap="flat" cmpd="sng">
                      <a:solidFill>
                        <a:srgbClr val="BFBFBF"/>
                      </a:solidFill>
                      <a:prstDash val="solid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0000">
                <a:tc>
                  <a:txBody>
                    <a:bodyPr wrap="square"/>
                    <a:lstStyle/>
                    <a:p>
                      <a:pPr algn="l"/>
                      <a:r>
                        <a:rPr sz="1300" b="0" lang="en-GB">
                          <a:solidFill>
                            <a:srgbClr val="000000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Abstract background (Imagen 4)</a:t>
                      </a:r>
                    </a:p>
                  </a:txBody>
                  <a:tcPr marL="54864" marR="54864" marT="27432" marB="27432" anchor="ctr">
                    <a:lnL w="9525" cap="flat" cmpd="sng">
                      <a:solidFill>
                        <a:srgbClr val="BFBFBF"/>
                      </a:solidFill>
                      <a:prstDash val="solid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lang="en-GB">
                          <a:solidFill>
                            <a:srgbClr val="000000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about $0.04-0.05</a:t>
                      </a:r>
                    </a:p>
                  </a:txBody>
                  <a:tcPr marL="54864" marR="54864" marT="27432" marB="27432" anchor="ctr">
                    <a:lnL w="9525" cap="flat" cmpd="sng">
                      <a:solidFill>
                        <a:srgbClr val="BFBFBF"/>
                      </a:solidFill>
                      <a:prstDash val="solid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0000">
                <a:tc>
                  <a:txBody>
                    <a:bodyPr wrap="square"/>
                    <a:lstStyle/>
                    <a:p>
                      <a:pPr algn="l"/>
                      <a:r>
                        <a:rPr sz="1300" b="0" lang="en-GB">
                          <a:solidFill>
                            <a:srgbClr val="000000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Ideas research</a:t>
                      </a:r>
                    </a:p>
                  </a:txBody>
                  <a:tcPr marL="54864" marR="54864" marT="27432" marB="27432" anchor="ctr">
                    <a:lnL w="9525" cap="flat" cmpd="sng">
                      <a:solidFill>
                        <a:srgbClr val="BFBFBF"/>
                      </a:solidFill>
                      <a:prstDash val="solid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lang="en-GB">
                          <a:solidFill>
                            <a:srgbClr val="000000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about $0.33, cap $0.50 a week</a:t>
                      </a:r>
                    </a:p>
                  </a:txBody>
                  <a:tcPr marL="54864" marR="54864" marT="27432" marB="27432" anchor="ctr">
                    <a:lnL w="9525" cap="flat" cmpd="sng">
                      <a:solidFill>
                        <a:srgbClr val="BFBFBF"/>
                      </a:solidFill>
                      <a:prstDash val="solid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0000">
                <a:tc>
                  <a:txBody>
                    <a:bodyPr wrap="square"/>
                    <a:lstStyle/>
                    <a:p>
                      <a:pPr algn="l"/>
                      <a:r>
                        <a:rPr sz="1300" b="0" lang="en-GB">
                          <a:solidFill>
                            <a:srgbClr val="000000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Brand Face (once)</a:t>
                      </a:r>
                    </a:p>
                  </a:txBody>
                  <a:tcPr marL="54864" marR="54864" marT="27432" marB="27432" anchor="ctr">
                    <a:lnL w="9525" cap="flat" cmpd="sng">
                      <a:solidFill>
                        <a:srgbClr val="BFBFBF"/>
                      </a:solidFill>
                      <a:prstDash val="solid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lang="en-GB">
                          <a:solidFill>
                            <a:srgbClr val="000000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about $1.32, cap $2, owner approves first</a:t>
                      </a:r>
                    </a:p>
                  </a:txBody>
                  <a:tcPr marL="54864" marR="54864" marT="27432" marB="27432" anchor="ctr">
                    <a:lnL w="9525" cap="flat" cmpd="sng">
                      <a:solidFill>
                        <a:srgbClr val="BFBFBF"/>
                      </a:solidFill>
                      <a:prstDash val="solid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0000">
                <a:tc>
                  <a:txBody>
                    <a:bodyPr wrap="square"/>
                    <a:lstStyle/>
                    <a:p>
                      <a:pPr algn="l"/>
                      <a:r>
                        <a:rPr sz="1300" b="0" lang="en-GB">
                          <a:solidFill>
                            <a:srgbClr val="000000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Face in each post</a:t>
                      </a:r>
                    </a:p>
                  </a:txBody>
                  <a:tcPr marL="54864" marR="54864" marT="27432" marB="27432" anchor="ctr">
                    <a:lnL w="9525" cap="flat" cmpd="sng">
                      <a:solidFill>
                        <a:srgbClr val="BFBFBF"/>
                      </a:solidFill>
                      <a:prstDash val="solid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lang="en-GB">
                          <a:solidFill>
                            <a:srgbClr val="000000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$0</a:t>
                      </a:r>
                    </a:p>
                  </a:txBody>
                  <a:tcPr marL="54864" marR="54864" marT="27432" marB="27432" anchor="ctr">
                    <a:lnL w="9525" cap="flat" cmpd="sng">
                      <a:solidFill>
                        <a:srgbClr val="BFBFBF"/>
                      </a:solidFill>
                      <a:prstDash val="solid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0000">
                <a:tc>
                  <a:txBody>
                    <a:bodyPr wrap="square"/>
                    <a:lstStyle/>
                    <a:p>
                      <a:pPr algn="l"/>
                      <a:r>
                        <a:rPr sz="1300" b="0" lang="en-GB">
                          <a:solidFill>
                            <a:srgbClr val="000000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Cloud Run + Supabase per month</a:t>
                      </a:r>
                    </a:p>
                  </a:txBody>
                  <a:tcPr marL="54864" marR="54864" marT="27432" marB="27432" anchor="ctr">
                    <a:lnL w="9525" cap="flat" cmpd="sng">
                      <a:solidFill>
                        <a:srgbClr val="BFBFBF"/>
                      </a:solidFill>
                      <a:prstDash val="solid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lang="en-GB">
                          <a:solidFill>
                            <a:srgbClr val="ED561B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[ESTIMATE]</a:t>
                      </a:r>
                    </a:p>
                  </a:txBody>
                  <a:tcPr marL="54864" marR="54864" marT="27432" marB="27432" anchor="ctr">
                    <a:lnL w="9525" cap="flat" cmpd="sng">
                      <a:solidFill>
                        <a:srgbClr val="BFBFBF"/>
                      </a:solidFill>
                      <a:prstDash val="solid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9" name="TextBox 128"/>
          <p:cNvSpPr txBox="1"/>
          <p:nvPr/>
        </p:nvSpPr>
        <p:spPr>
          <a:xfrm>
            <a:off x="356775" y="4300000"/>
            <a:ext cx="843045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lang="en-GB">
                <a:solidFill>
                  <a:srgbClr val="595959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Any AI run estimated over $0.50 needs the owner's approval first.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Snapshots of the prototype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36" name="Picture 135" descr="create-details.png"/>
          <p:cNvPicPr>
            <a:picLocks noChangeAspect="1"/>
          </p:cNvPicPr>
          <p:nvPr/>
        </p:nvPicPr>
        <p:blipFill>
          <a:blip r:embed="rId5"/>
          <a:srcRect b="9760"/>
          <a:stretch>
            <a:fillRect/>
          </a:stretch>
        </p:blipFill>
        <p:spPr>
          <a:xfrm>
            <a:off x="356775" y="1060000"/>
            <a:ext cx="2500000" cy="1410000"/>
          </a:xfrm>
          <a:prstGeom prst="rect">
            <a:avLst/>
          </a:prstGeom>
          <a:ln w="9525">
            <a:solidFill>
              <a:srgbClr val="BFBFBF"/>
            </a:solidFill>
          </a:ln>
        </p:spPr>
      </p:pic>
      <p:sp>
        <p:nvSpPr>
          <p:cNvPr id="137" name="TextBox 136"/>
          <p:cNvSpPr txBox="1"/>
          <p:nvPr/>
        </p:nvSpPr>
        <p:spPr>
          <a:xfrm>
            <a:off x="356775" y="2520000"/>
            <a:ext cx="2500000" cy="3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lang="en-GB">
                <a:solidFill>
                  <a:srgbClr val="000000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The owner says what is true first: offer, contacts, QR, dates.</a:t>
            </a:r>
          </a:p>
        </p:txBody>
      </p:sp>
      <p:pic>
        <p:nvPicPr>
          <p:cNvPr id="138" name="Picture 137" descr="design-studio.png"/>
          <p:cNvPicPr>
            <a:picLocks noChangeAspect="1"/>
          </p:cNvPicPr>
          <p:nvPr/>
        </p:nvPicPr>
        <p:blipFill>
          <a:blip r:embed="rId6"/>
          <a:srcRect b="9760"/>
          <a:stretch>
            <a:fillRect/>
          </a:stretch>
        </p:blipFill>
        <p:spPr>
          <a:xfrm>
            <a:off x="3322000" y="1060000"/>
            <a:ext cx="2500000" cy="1410000"/>
          </a:xfrm>
          <a:prstGeom prst="rect">
            <a:avLst/>
          </a:prstGeom>
          <a:ln w="9525">
            <a:solidFill>
              <a:srgbClr val="BFBFBF"/>
            </a:solidFill>
          </a:ln>
        </p:spPr>
      </p:pic>
      <p:sp>
        <p:nvSpPr>
          <p:cNvPr id="139" name="TextBox 138"/>
          <p:cNvSpPr txBox="1"/>
          <p:nvPr/>
        </p:nvSpPr>
        <p:spPr>
          <a:xfrm>
            <a:off x="3322000" y="2520000"/>
            <a:ext cx="2500000" cy="3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lang="en-GB">
                <a:solidFill>
                  <a:srgbClr val="000000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Live editing; every word, logo and QR is drawn by code.</a:t>
            </a:r>
          </a:p>
        </p:txBody>
      </p:sp>
      <p:pic>
        <p:nvPicPr>
          <p:cNvPr id="140" name="Picture 139" descr="review.png"/>
          <p:cNvPicPr>
            <a:picLocks noChangeAspect="1"/>
          </p:cNvPicPr>
          <p:nvPr/>
        </p:nvPicPr>
        <p:blipFill>
          <a:blip r:embed="rId7"/>
          <a:srcRect b="9760"/>
          <a:stretch>
            <a:fillRect/>
          </a:stretch>
        </p:blipFill>
        <p:spPr>
          <a:xfrm>
            <a:off x="6287225" y="1060000"/>
            <a:ext cx="2500000" cy="1410000"/>
          </a:xfrm>
          <a:prstGeom prst="rect">
            <a:avLst/>
          </a:prstGeom>
          <a:ln w="9525">
            <a:solidFill>
              <a:srgbClr val="BFBFBF"/>
            </a:solidFill>
          </a:ln>
        </p:spPr>
      </p:pic>
      <p:sp>
        <p:nvSpPr>
          <p:cNvPr id="141" name="TextBox 140"/>
          <p:cNvSpPr txBox="1"/>
          <p:nvPr/>
        </p:nvSpPr>
        <p:spPr>
          <a:xfrm>
            <a:off x="6287225" y="2520000"/>
            <a:ext cx="2500000" cy="3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lang="en-GB">
                <a:solidFill>
                  <a:srgbClr val="000000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Anything not in the brief is flagged "please check" before approval.</a:t>
            </a:r>
          </a:p>
        </p:txBody>
      </p:sp>
      <p:pic>
        <p:nvPicPr>
          <p:cNvPr id="142" name="Picture 141" descr="schedule.png"/>
          <p:cNvPicPr>
            <a:picLocks noChangeAspect="1"/>
          </p:cNvPicPr>
          <p:nvPr/>
        </p:nvPicPr>
        <p:blipFill>
          <a:blip r:embed="rId8"/>
          <a:srcRect b="9760"/>
          <a:stretch>
            <a:fillRect/>
          </a:stretch>
        </p:blipFill>
        <p:spPr>
          <a:xfrm>
            <a:off x="356775" y="2960000"/>
            <a:ext cx="2500000" cy="1410000"/>
          </a:xfrm>
          <a:prstGeom prst="rect">
            <a:avLst/>
          </a:prstGeom>
          <a:ln w="9525">
            <a:solidFill>
              <a:srgbClr val="BFBFBF"/>
            </a:solidFill>
          </a:ln>
        </p:spPr>
      </p:pic>
      <p:sp>
        <p:nvSpPr>
          <p:cNvPr id="143" name="TextBox 142"/>
          <p:cNvSpPr txBox="1"/>
          <p:nvPr/>
        </p:nvSpPr>
        <p:spPr>
          <a:xfrm>
            <a:off x="356775" y="4420000"/>
            <a:ext cx="2500000" cy="3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lang="en-GB">
                <a:solidFill>
                  <a:srgbClr val="000000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Approved posts go out one at a time, at the owner's chosen slot.</a:t>
            </a:r>
          </a:p>
        </p:txBody>
      </p:sp>
      <p:pic>
        <p:nvPicPr>
          <p:cNvPr id="144" name="Picture 143" descr="ideas.png"/>
          <p:cNvPicPr>
            <a:picLocks noChangeAspect="1"/>
          </p:cNvPicPr>
          <p:nvPr/>
        </p:nvPicPr>
        <p:blipFill>
          <a:blip r:embed="rId9"/>
          <a:srcRect b="9760"/>
          <a:stretch>
            <a:fillRect/>
          </a:stretch>
        </p:blipFill>
        <p:spPr>
          <a:xfrm>
            <a:off x="3322000" y="2960000"/>
            <a:ext cx="2500000" cy="1410000"/>
          </a:xfrm>
          <a:prstGeom prst="rect">
            <a:avLst/>
          </a:prstGeom>
          <a:ln w="9525">
            <a:solidFill>
              <a:srgbClr val="BFBFBF"/>
            </a:solidFill>
          </a:ln>
        </p:spPr>
      </p:pic>
      <p:sp>
        <p:nvSpPr>
          <p:cNvPr id="145" name="TextBox 144"/>
          <p:cNvSpPr txBox="1"/>
          <p:nvPr/>
        </p:nvSpPr>
        <p:spPr>
          <a:xfrm>
            <a:off x="3322000" y="4420000"/>
            <a:ext cx="2500000" cy="3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lang="en-GB">
                <a:solidFill>
                  <a:srgbClr val="000000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Weekly trend cards with dated sources, and "Make this post".</a:t>
            </a:r>
          </a:p>
        </p:txBody>
      </p:sp>
      <p:pic>
        <p:nvPicPr>
          <p:cNvPr id="146" name="Picture 145" descr="brand-face.png"/>
          <p:cNvPicPr>
            <a:picLocks noChangeAspect="1"/>
          </p:cNvPicPr>
          <p:nvPr/>
        </p:nvPicPr>
        <p:blipFill>
          <a:blip r:embed="rId10"/>
          <a:srcRect b="22426"/>
          <a:stretch>
            <a:fillRect/>
          </a:stretch>
        </p:blipFill>
        <p:spPr>
          <a:xfrm>
            <a:off x="6287225" y="2960000"/>
            <a:ext cx="2500000" cy="1410000"/>
          </a:xfrm>
          <a:prstGeom prst="rect">
            <a:avLst/>
          </a:prstGeom>
          <a:ln w="9525">
            <a:solidFill>
              <a:srgbClr val="BFBFBF"/>
            </a:solidFill>
          </a:ln>
        </p:spPr>
      </p:pic>
      <p:sp>
        <p:nvSpPr>
          <p:cNvPr id="147" name="TextBox 146"/>
          <p:cNvSpPr txBox="1"/>
          <p:nvPr/>
        </p:nvSpPr>
        <p:spPr>
          <a:xfrm>
            <a:off x="6287225" y="4420000"/>
            <a:ext cx="2500000" cy="3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lang="en-GB">
                <a:solidFill>
                  <a:srgbClr val="000000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One consistent face; the price is shown and approved first.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Prototype Performance report/Benchmarking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44" name="Rounded Rectangle 143"/>
          <p:cNvSpPr/>
          <p:nvPr/>
        </p:nvSpPr>
        <p:spPr>
          <a:xfrm>
            <a:off x="356775" y="1100000"/>
            <a:ext cx="2700000" cy="15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rtlCol="0" anchor="ctr" wrap="square" tIns="54864" bIns="54864"/>
          <a:lstStyle/>
          <a:p>
            <a:pPr algn="ctr">
              <a:spcAft>
                <a:spcPts val="400"/>
              </a:spcAft>
            </a:pPr>
            <a:r>
              <a:rPr sz="2400" b="1" lang="en-GB">
                <a:solidFill>
                  <a:srgbClr val="058DC7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4,751</a:t>
            </a:r>
          </a:p>
          <a:p>
            <a:pPr algn="ctr">
              <a:spcAft>
                <a:spcPts val="400"/>
              </a:spcAft>
            </a:pPr>
            <a:r>
              <a:rPr sz="1200" b="0" lang="en-GB">
                <a:solidFill>
                  <a:srgbClr val="000000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automated tests passing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3222000" y="1100000"/>
            <a:ext cx="2700000" cy="15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rtlCol="0" anchor="ctr" wrap="square" tIns="54864" bIns="54864"/>
          <a:lstStyle/>
          <a:p>
            <a:pPr algn="ctr">
              <a:spcAft>
                <a:spcPts val="400"/>
              </a:spcAft>
            </a:pPr>
            <a:r>
              <a:rPr sz="2400" b="1" lang="en-GB">
                <a:solidFill>
                  <a:srgbClr val="058DC7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Clean</a:t>
            </a:r>
          </a:p>
          <a:p>
            <a:pPr algn="ctr">
              <a:spcAft>
                <a:spcPts val="400"/>
              </a:spcAft>
            </a:pPr>
            <a:r>
              <a:rPr sz="1200" b="0" lang="en-GB">
                <a:solidFill>
                  <a:srgbClr val="000000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TypeScript and lint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6087225" y="1100000"/>
            <a:ext cx="2700000" cy="15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rtlCol="0" anchor="ctr" wrap="square" tIns="54864" bIns="54864"/>
          <a:lstStyle/>
          <a:p>
            <a:pPr algn="ctr">
              <a:spcAft>
                <a:spcPts val="400"/>
              </a:spcAft>
            </a:pPr>
            <a:r>
              <a:rPr sz="2400" b="1" lang="en-GB">
                <a:solidFill>
                  <a:srgbClr val="058DC7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49 of 49</a:t>
            </a:r>
          </a:p>
          <a:p>
            <a:pPr algn="ctr">
              <a:spcAft>
                <a:spcPts val="400"/>
              </a:spcAft>
            </a:pPr>
            <a:r>
              <a:rPr sz="1200" b="0" lang="en-GB">
                <a:solidFill>
                  <a:srgbClr val="000000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tables with row-level security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356775" y="2750000"/>
            <a:ext cx="2700000" cy="15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rtlCol="0" anchor="ctr" wrap="square" tIns="54864" bIns="54864"/>
          <a:lstStyle/>
          <a:p>
            <a:pPr algn="ctr">
              <a:spcAft>
                <a:spcPts val="400"/>
              </a:spcAft>
            </a:pPr>
            <a:r>
              <a:rPr sz="2400" b="1" lang="en-GB">
                <a:solidFill>
                  <a:srgbClr val="058DC7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$0.50</a:t>
            </a:r>
          </a:p>
          <a:p>
            <a:pPr algn="ctr">
              <a:spcAft>
                <a:spcPts val="400"/>
              </a:spcAft>
            </a:pPr>
            <a:r>
              <a:rPr sz="1200" b="0" lang="en-GB">
                <a:solidFill>
                  <a:srgbClr val="000000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weekly AI cap per brand, enforced in code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3222000" y="2750000"/>
            <a:ext cx="2700000" cy="15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rtlCol="0" anchor="ctr" wrap="square" tIns="54864" bIns="54864"/>
          <a:lstStyle/>
          <a:p>
            <a:pPr algn="ctr">
              <a:spcAft>
                <a:spcPts val="400"/>
              </a:spcAft>
            </a:pPr>
            <a:r>
              <a:rPr sz="2400" b="1" lang="en-GB">
                <a:solidFill>
                  <a:srgbClr val="058DC7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Checked</a:t>
            </a:r>
          </a:p>
          <a:p>
            <a:pPr algn="ctr">
              <a:spcAft>
                <a:spcPts val="400"/>
              </a:spcAft>
            </a:pPr>
            <a:r>
              <a:rPr sz="1200" b="0" lang="en-GB">
                <a:solidFill>
                  <a:srgbClr val="000000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fact guardrail: code + AI check of prices, dates, contacts, ratings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6087225" y="2750000"/>
            <a:ext cx="2700000" cy="15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rtlCol="0" anchor="ctr" wrap="square" tIns="54864" bIns="54864"/>
          <a:lstStyle/>
          <a:p>
            <a:pPr algn="ctr">
              <a:spcAft>
                <a:spcPts val="400"/>
              </a:spcAft>
            </a:pPr>
            <a:r>
              <a:rPr sz="2400" b="1" lang="en-GB">
                <a:solidFill>
                  <a:srgbClr val="058DC7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Exact</a:t>
            </a:r>
          </a:p>
          <a:p>
            <a:pPr algn="ctr">
              <a:spcAft>
                <a:spcPts val="400"/>
              </a:spcAft>
            </a:pPr>
            <a:r>
              <a:rPr sz="1200" b="0" lang="en-GB">
                <a:solidFill>
                  <a:srgbClr val="000000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payment QR must decode to the saved ID, or the post is blocked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6775" y="4400000"/>
            <a:ext cx="843045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 lang="en-GB">
                <a:solidFill>
                  <a:srgbClr val="000000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First post time and render speed: </a:t>
            </a:r>
            <a:r>
              <a:rPr sz="1300" b="1" lang="en-GB">
                <a:solidFill>
                  <a:srgbClr val="ED561B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[TO MEASURE]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Details/Future Development (if any)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52" name="Pentagon 151"/>
          <p:cNvSpPr/>
          <p:nvPr/>
        </p:nvSpPr>
        <p:spPr>
          <a:xfrm>
            <a:off x="356775" y="1100000"/>
            <a:ext cx="2700000" cy="480000"/>
          </a:xfrm>
          <a:prstGeom prst="homePlate">
            <a:avLst/>
          </a:prstGeom>
          <a:solidFill>
            <a:srgbClr val="058DC7"/>
          </a:solidFill>
          <a:ln w="15875">
            <a:solidFill>
              <a:srgbClr val="058DC7"/>
            </a:solidFill>
          </a:ln>
        </p:spPr>
        <p:txBody>
          <a:bodyPr rtlCol="0" anchor="ctr" wrap="square" lIns="137160" rIns="137160" tIns="27432" bIns="27432"/>
          <a:lstStyle/>
          <a:p>
            <a:pPr algn="l">
              <a:spcAft>
                <a:spcPts val="200"/>
              </a:spcAft>
            </a:pPr>
            <a:r>
              <a:rPr sz="1400" b="1" lang="en-GB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Now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356775" y="1700000"/>
            <a:ext cx="2700000" cy="23000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rtlCol="0" anchor="t" wrap="square" lIns="109728" rIns="109728" tIns="91440" bIns="91440"/>
          <a:lstStyle/>
          <a:p>
            <a:pPr algn="l">
              <a:spcAft>
                <a:spcPts val="800"/>
              </a:spcAft>
            </a:pPr>
            <a:r>
              <a:rPr sz="1300" b="0" lang="en-GB">
                <a:solidFill>
                  <a:srgbClr val="000000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Meta publishing for app testers</a:t>
            </a:r>
          </a:p>
          <a:p>
            <a:pPr algn="l">
              <a:spcAft>
                <a:spcPts val="800"/>
              </a:spcAft>
            </a:pPr>
            <a:r>
              <a:rPr sz="1300" b="0" lang="en-GB">
                <a:solidFill>
                  <a:srgbClr val="000000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Free pilot on Cloud Run</a:t>
            </a:r>
          </a:p>
        </p:txBody>
      </p:sp>
      <p:sp>
        <p:nvSpPr>
          <p:cNvPr id="154" name="Pentagon 153"/>
          <p:cNvSpPr/>
          <p:nvPr/>
        </p:nvSpPr>
        <p:spPr>
          <a:xfrm>
            <a:off x="3222000" y="1100000"/>
            <a:ext cx="2700000" cy="480000"/>
          </a:xfrm>
          <a:prstGeom prst="homePlate">
            <a:avLst/>
          </a:prstGeom>
          <a:solidFill>
            <a:srgbClr val="058DC7"/>
          </a:solidFill>
          <a:ln w="15875">
            <a:solidFill>
              <a:srgbClr val="058DC7"/>
            </a:solidFill>
          </a:ln>
        </p:spPr>
        <p:txBody>
          <a:bodyPr rtlCol="0" anchor="ctr" wrap="square" lIns="137160" rIns="137160" tIns="27432" bIns="27432"/>
          <a:lstStyle/>
          <a:p>
            <a:pPr algn="l">
              <a:spcAft>
                <a:spcPts val="200"/>
              </a:spcAft>
            </a:pPr>
            <a:r>
              <a:rPr sz="1400" b="1" lang="en-GB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Next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3222000" y="1700000"/>
            <a:ext cx="2700000" cy="23000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rtlCol="0" anchor="t" wrap="square" lIns="109728" rIns="109728" tIns="91440" bIns="91440"/>
          <a:lstStyle/>
          <a:p>
            <a:pPr algn="l">
              <a:spcAft>
                <a:spcPts val="800"/>
              </a:spcAft>
            </a:pPr>
            <a:r>
              <a:rPr sz="1300" b="0" lang="en-GB">
                <a:solidFill>
                  <a:srgbClr val="000000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Post results from Instagram and Facebook insights (waits on Meta App Review)</a:t>
            </a:r>
          </a:p>
          <a:p>
            <a:pPr algn="l">
              <a:spcAft>
                <a:spcPts val="800"/>
              </a:spcAft>
            </a:pPr>
            <a:r>
              <a:rPr sz="1300" b="0" lang="en-GB">
                <a:solidFill>
                  <a:srgbClr val="000000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Reels and short videos (Veo), opt-in, priced first</a:t>
            </a:r>
          </a:p>
        </p:txBody>
      </p:sp>
      <p:sp>
        <p:nvSpPr>
          <p:cNvPr id="156" name="Pentagon 155"/>
          <p:cNvSpPr/>
          <p:nvPr/>
        </p:nvSpPr>
        <p:spPr>
          <a:xfrm>
            <a:off x="6087225" y="1100000"/>
            <a:ext cx="2700000" cy="480000"/>
          </a:xfrm>
          <a:prstGeom prst="homePlate">
            <a:avLst/>
          </a:prstGeom>
          <a:solidFill>
            <a:srgbClr val="058DC7"/>
          </a:solidFill>
          <a:ln w="15875">
            <a:solidFill>
              <a:srgbClr val="058DC7"/>
            </a:solidFill>
          </a:ln>
        </p:spPr>
        <p:txBody>
          <a:bodyPr rtlCol="0" anchor="ctr" wrap="square" lIns="137160" rIns="137160" tIns="27432" bIns="27432"/>
          <a:lstStyle/>
          <a:p>
            <a:pPr algn="l">
              <a:spcAft>
                <a:spcPts val="200"/>
              </a:spcAft>
            </a:pPr>
            <a:r>
              <a:rPr sz="1400" b="1" lang="en-GB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Later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6087225" y="1700000"/>
            <a:ext cx="2700000" cy="23000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rtlCol="0" anchor="t" wrap="square" lIns="109728" rIns="109728" tIns="91440" bIns="91440"/>
          <a:lstStyle/>
          <a:p>
            <a:pPr algn="l">
              <a:spcAft>
                <a:spcPts val="800"/>
              </a:spcAft>
            </a:pPr>
            <a:r>
              <a:rPr sz="1300" b="0" lang="en-GB">
                <a:solidFill>
                  <a:srgbClr val="000000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YouTube Shorts, Google Business Profile, LinkedIn</a:t>
            </a:r>
          </a:p>
          <a:p>
            <a:pPr algn="l">
              <a:spcAft>
                <a:spcPts val="800"/>
              </a:spcAft>
            </a:pPr>
            <a:r>
              <a:rPr sz="1300" b="0" lang="en-GB">
                <a:solidFill>
                  <a:srgbClr val="000000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WhatsApp delivery</a:t>
            </a:r>
          </a:p>
          <a:p>
            <a:pPr algn="l">
              <a:spcAft>
                <a:spcPts val="800"/>
              </a:spcAft>
            </a:pPr>
            <a:r>
              <a:rPr sz="1300" b="0" lang="en-GB">
                <a:solidFill>
                  <a:srgbClr val="000000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Growth report and benchmarks (BigQuery)</a:t>
            </a:r>
          </a:p>
          <a:p>
            <a:pPr algn="l">
              <a:spcAft>
                <a:spcPts val="800"/>
              </a:spcAft>
            </a:pPr>
            <a:r>
              <a:rPr sz="1300" b="0" lang="en-GB">
                <a:solidFill>
                  <a:srgbClr val="000000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Agency workspace for many brands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356775" y="4330000"/>
            <a:ext cx="843045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 lang="en-GB">
                <a:solidFill>
                  <a:srgbClr val="000000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Business model: </a:t>
            </a:r>
            <a:r>
              <a:rPr sz="1300" b="1" lang="en-GB">
                <a:solidFill>
                  <a:srgbClr val="ED561B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[OWNER TO DECIDE]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26"/>
          <p:cNvSpPr txBox="1"/>
          <p:nvPr/>
        </p:nvSpPr>
        <p:spPr>
          <a:xfrm>
            <a:off x="265350" y="663825"/>
            <a:ext cx="6400000" cy="2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Provide links to your: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GitHub Public Repository: </a:t>
            </a: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github.com/quant-1729/weekly-posts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Demo Video Link (3 Minutes): </a:t>
            </a: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[OWNER TO FILL: YouTube or Drive link]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Final Product Link: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lang="en-GB" u="sng">
                <a:solidFill>
                  <a:srgbClr val="058DC7"/>
                </a:solidFill>
                <a:latin typeface="Google Sans Flex"/>
                <a:ea typeface="Google Sans Flex"/>
                <a:cs typeface="Google Sans Flex"/>
                <a:sym typeface="Google Sans Flex"/>
                <a:hlinkClick r:id="rId5"/>
              </a:rPr>
              <a:t>https://weekly-posts-526531409571.australia-southeast1.run.app/demo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lang="en-GB">
                <a:solidFill>
                  <a:srgbClr val="000000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Access code: </a:t>
            </a:r>
            <a:r>
              <a:rPr sz="1300" b="0" lang="en-GB">
                <a:solidFill>
                  <a:srgbClr val="000000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provided in the submission form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60" name="Picture 159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50000" y="1250000"/>
            <a:ext cx="1450000" cy="1450000"/>
          </a:xfrm>
          <a:prstGeom prst="rect">
            <a:avLst/>
          </a:prstGeom>
        </p:spPr>
      </p:pic>
      <p:sp>
        <p:nvSpPr>
          <p:cNvPr id="161" name="TextBox 160"/>
          <p:cNvSpPr txBox="1"/>
          <p:nvPr/>
        </p:nvSpPr>
        <p:spPr>
          <a:xfrm>
            <a:off x="7050000" y="2760000"/>
            <a:ext cx="185000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 lang="en-GB">
                <a:solidFill>
                  <a:srgbClr val="000000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Scan to open the demo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2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Responsible AI and safety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67" name="Rounded Rectangle 166"/>
          <p:cNvSpPr/>
          <p:nvPr/>
        </p:nvSpPr>
        <p:spPr>
          <a:xfrm>
            <a:off x="356775" y="1100000"/>
            <a:ext cx="4130000" cy="113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rtlCol="0" anchor="ctr" wrap="square" lIns="201168" rIns="201168" tIns="54864" bIns="54864"/>
          <a:lstStyle/>
          <a:p>
            <a:pPr algn="l">
              <a:spcAft>
                <a:spcPts val="200"/>
              </a:spcAft>
            </a:pPr>
            <a:r>
              <a:rPr sz="1300" b="1" lang="en-GB">
                <a:solidFill>
                  <a:srgbClr val="000000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AI images:</a:t>
            </a:r>
            <a:r>
              <a:rPr sz="1300" b="0" lang="en-GB">
                <a:solidFill>
                  <a:srgbClr val="000000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abstract backgrounds only, never products or people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356775" y="1190000"/>
            <a:ext cx="55000" cy="950000"/>
          </a:xfrm>
          <a:prstGeom prst="rect">
            <a:avLst/>
          </a:prstGeom>
          <a:solidFill>
            <a:srgbClr val="058D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9" name="Rounded Rectangle 168"/>
          <p:cNvSpPr/>
          <p:nvPr/>
        </p:nvSpPr>
        <p:spPr>
          <a:xfrm>
            <a:off x="4657225" y="1100000"/>
            <a:ext cx="4130000" cy="113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rtlCol="0" anchor="ctr" wrap="square" lIns="201168" rIns="201168" tIns="54864" bIns="54864"/>
          <a:lstStyle/>
          <a:p>
            <a:pPr algn="l">
              <a:spcAft>
                <a:spcPts val="200"/>
              </a:spcAft>
            </a:pPr>
            <a:r>
              <a:rPr sz="1300" b="1" lang="en-GB">
                <a:solidFill>
                  <a:srgbClr val="000000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Brand Face:</a:t>
            </a:r>
            <a:r>
              <a:rPr sz="1300" b="0" lang="en-GB">
                <a:solidFill>
                  <a:srgbClr val="000000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owner-approved, never a real person, labelled "AI"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4657225" y="1190000"/>
            <a:ext cx="55000" cy="950000"/>
          </a:xfrm>
          <a:prstGeom prst="rect">
            <a:avLst/>
          </a:prstGeom>
          <a:solidFill>
            <a:srgbClr val="058D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1" name="Rounded Rectangle 170"/>
          <p:cNvSpPr/>
          <p:nvPr/>
        </p:nvSpPr>
        <p:spPr>
          <a:xfrm>
            <a:off x="356775" y="2360000"/>
            <a:ext cx="4130000" cy="113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rtlCol="0" anchor="ctr" wrap="square" lIns="201168" rIns="201168" tIns="54864" bIns="54864"/>
          <a:lstStyle/>
          <a:p>
            <a:pPr algn="l">
              <a:spcAft>
                <a:spcPts val="200"/>
              </a:spcAft>
            </a:pPr>
            <a:r>
              <a:rPr sz="1300" b="1" lang="en-GB">
                <a:solidFill>
                  <a:srgbClr val="000000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No text in AI images:</a:t>
            </a:r>
            <a:r>
              <a:rPr sz="1300" b="0" lang="en-GB">
                <a:solidFill>
                  <a:srgbClr val="000000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code draws all text, logos and QR codes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356775" y="2450000"/>
            <a:ext cx="55000" cy="950000"/>
          </a:xfrm>
          <a:prstGeom prst="rect">
            <a:avLst/>
          </a:prstGeom>
          <a:solidFill>
            <a:srgbClr val="058D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3" name="Rounded Rectangle 172"/>
          <p:cNvSpPr/>
          <p:nvPr/>
        </p:nvSpPr>
        <p:spPr>
          <a:xfrm>
            <a:off x="4657225" y="2360000"/>
            <a:ext cx="4130000" cy="113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rtlCol="0" anchor="ctr" wrap="square" lIns="201168" rIns="201168" tIns="54864" bIns="54864"/>
          <a:lstStyle/>
          <a:p>
            <a:pPr algn="l">
              <a:spcAft>
                <a:spcPts val="200"/>
              </a:spcAft>
            </a:pPr>
            <a:r>
              <a:rPr sz="1300" b="1" lang="en-GB">
                <a:solidFill>
                  <a:srgbClr val="000000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Facts</a:t>
            </a:r>
            <a:r>
              <a:rPr sz="1300" b="0" lang="en-GB">
                <a:solidFill>
                  <a:srgbClr val="000000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only from the brief; anything else flagged "please check"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4657225" y="2450000"/>
            <a:ext cx="55000" cy="950000"/>
          </a:xfrm>
          <a:prstGeom prst="rect">
            <a:avLst/>
          </a:prstGeom>
          <a:solidFill>
            <a:srgbClr val="058D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5" name="Rounded Rectangle 174"/>
          <p:cNvSpPr/>
          <p:nvPr/>
        </p:nvSpPr>
        <p:spPr>
          <a:xfrm>
            <a:off x="356775" y="3620000"/>
            <a:ext cx="4130000" cy="113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rtlCol="0" anchor="ctr" wrap="square" lIns="201168" rIns="201168" tIns="54864" bIns="54864"/>
          <a:lstStyle/>
          <a:p>
            <a:pPr algn="l">
              <a:spcAft>
                <a:spcPts val="200"/>
              </a:spcAft>
            </a:pPr>
            <a:r>
              <a:rPr sz="1300" b="1" lang="en-GB">
                <a:solidFill>
                  <a:srgbClr val="000000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Payment IDs</a:t>
            </a:r>
            <a:r>
              <a:rPr sz="1300" b="0" lang="en-GB">
                <a:solidFill>
                  <a:srgbClr val="000000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typed by the owner, confirmed by email, never sent to AI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356775" y="3710000"/>
            <a:ext cx="55000" cy="950000"/>
          </a:xfrm>
          <a:prstGeom prst="rect">
            <a:avLst/>
          </a:prstGeom>
          <a:solidFill>
            <a:srgbClr val="058D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7" name="Rounded Rectangle 176"/>
          <p:cNvSpPr/>
          <p:nvPr/>
        </p:nvSpPr>
        <p:spPr>
          <a:xfrm>
            <a:off x="4657225" y="3620000"/>
            <a:ext cx="4130000" cy="113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rtlCol="0" anchor="ctr" wrap="square" lIns="201168" rIns="201168" tIns="54864" bIns="54864"/>
          <a:lstStyle/>
          <a:p>
            <a:pPr algn="l">
              <a:spcAft>
                <a:spcPts val="200"/>
              </a:spcAft>
            </a:pPr>
            <a:r>
              <a:rPr sz="1300" b="1" lang="en-GB">
                <a:solidFill>
                  <a:srgbClr val="000000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Approval</a:t>
            </a:r>
            <a:r>
              <a:rPr sz="1300" b="0" lang="en-GB">
                <a:solidFill>
                  <a:srgbClr val="000000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before anything is published; row-level security on every table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4657225" y="3710000"/>
            <a:ext cx="55000" cy="950000"/>
          </a:xfrm>
          <a:prstGeom prst="rect">
            <a:avLst/>
          </a:prstGeom>
          <a:solidFill>
            <a:srgbClr val="058D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